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3" r:id="rId1"/>
  </p:sldMasterIdLst>
  <p:notesMasterIdLst>
    <p:notesMasterId r:id="rId18"/>
  </p:notesMasterIdLst>
  <p:sldIdLst>
    <p:sldId id="256" r:id="rId2"/>
    <p:sldId id="269" r:id="rId3"/>
    <p:sldId id="276" r:id="rId4"/>
    <p:sldId id="262" r:id="rId5"/>
    <p:sldId id="257" r:id="rId6"/>
    <p:sldId id="270" r:id="rId7"/>
    <p:sldId id="273" r:id="rId8"/>
    <p:sldId id="278" r:id="rId9"/>
    <p:sldId id="274" r:id="rId10"/>
    <p:sldId id="277" r:id="rId11"/>
    <p:sldId id="275" r:id="rId12"/>
    <p:sldId id="279" r:id="rId13"/>
    <p:sldId id="280" r:id="rId14"/>
    <p:sldId id="281" r:id="rId15"/>
    <p:sldId id="261" r:id="rId16"/>
    <p:sldId id="266"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251"/>
    <p:restoredTop sz="94597"/>
  </p:normalViewPr>
  <p:slideViewPr>
    <p:cSldViewPr snapToGrid="0">
      <p:cViewPr>
        <p:scale>
          <a:sx n="84" d="100"/>
          <a:sy n="84" d="100"/>
        </p:scale>
        <p:origin x="728"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B2BC9A-D75D-A340-A673-60FD1DABFC6B}" type="datetimeFigureOut">
              <a:rPr kumimoji="1" lang="zh-CN" altLang="en-US" smtClean="0"/>
              <a:t>2026/3/11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F999CE-9E50-1641-A913-2C0B1B117FF7}" type="slidenum">
              <a:rPr kumimoji="1" lang="zh-CN" altLang="en-US" smtClean="0"/>
              <a:t>‹#›</a:t>
            </a:fld>
            <a:endParaRPr kumimoji="1" lang="zh-CN" altLang="en-US"/>
          </a:p>
        </p:txBody>
      </p:sp>
    </p:spTree>
    <p:extLst>
      <p:ext uri="{BB962C8B-B14F-4D97-AF65-F5344CB8AC3E}">
        <p14:creationId xmlns:p14="http://schemas.microsoft.com/office/powerpoint/2010/main" val="162696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5F999CE-9E50-1641-A913-2C0B1B117FF7}" type="slidenum">
              <a:rPr kumimoji="1" lang="zh-CN" altLang="en-US" smtClean="0"/>
              <a:t>1</a:t>
            </a:fld>
            <a:endParaRPr kumimoji="1" lang="zh-CN" altLang="en-US"/>
          </a:p>
        </p:txBody>
      </p:sp>
    </p:spTree>
    <p:extLst>
      <p:ext uri="{BB962C8B-B14F-4D97-AF65-F5344CB8AC3E}">
        <p14:creationId xmlns:p14="http://schemas.microsoft.com/office/powerpoint/2010/main" val="2478807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800" spc="41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F336A001-7623-954C-835D-853033BA72E9}" type="datetime1">
              <a:rPr lang="zh-CN" altLang="en-US" smtClean="0"/>
              <a:t>2026/3/11</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13324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263FFCE-11B9-DC40-86FC-03B83EA5D7C8}" type="datetime1">
              <a:rPr lang="zh-CN" altLang="en-US" smtClean="0"/>
              <a:t>2026/3/11</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58782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54EB09C4-C236-2948-AE2C-616446D03EB9}" type="datetime1">
              <a:rPr lang="zh-CN" altLang="en-US" smtClean="0"/>
              <a:t>2026/3/11</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67097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093B502-A672-7548-8011-98EC05FAC365}" type="datetime1">
              <a:rPr lang="zh-CN" altLang="en-US" smtClean="0"/>
              <a:t>2026/3/11</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5572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4C06AC96-3C34-C043-8A0E-E0149F013393}" type="datetime1">
              <a:rPr lang="zh-CN" altLang="en-US" smtClean="0"/>
              <a:t>2026/3/11</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00949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DFABD267-728B-2C4C-AB2B-265218A872AD}" type="datetime1">
              <a:rPr lang="zh-CN" altLang="en-US" smtClean="0"/>
              <a:t>2026/3/11</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86918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34EFC2DF-C602-3047-8FCC-9562B296C586}" type="datetime1">
              <a:rPr lang="zh-CN" altLang="en-US" smtClean="0"/>
              <a:t>2026/3/11</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94661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9803CB43-D6BF-9246-821F-E0A241D9ACDC}" type="datetime1">
              <a:rPr lang="zh-CN" altLang="en-US" smtClean="0"/>
              <a:t>2026/3/11</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93508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A126BCB7-2840-B244-AE56-7AC899E220A2}" type="datetime1">
              <a:rPr lang="zh-CN" altLang="en-US" smtClean="0"/>
              <a:t>2026/3/11</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13571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3A4601A7-93E5-0F4A-90F5-FEC6D1213ECF}" type="datetime1">
              <a:rPr lang="zh-CN" altLang="en-US" smtClean="0"/>
              <a:t>2026/3/11</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72735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8322D0D4-07DB-794D-B6C3-259B6AA83318}" type="datetime1">
              <a:rPr lang="zh-CN" altLang="en-US" smtClean="0"/>
              <a:t>2026/3/11</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80993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lIns="109728" tIns="109728" rIns="109728" bIns="91440"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lIns="109728" tIns="109728" rIns="109728" bIns="91440" anchor="ctr"/>
          <a:lstStyle>
            <a:lvl1pPr algn="r">
              <a:defRPr sz="1050" spc="150">
                <a:solidFill>
                  <a:schemeClr val="tx1"/>
                </a:solidFill>
                <a:latin typeface="+mj-lt"/>
              </a:defRPr>
            </a:lvl1pPr>
          </a:lstStyle>
          <a:p>
            <a:fld id="{C3E3CF1B-2FD0-754A-9420-ABFB77C29AE3}" type="datetime1">
              <a:rPr lang="zh-CN" altLang="en-US" smtClean="0"/>
              <a:t>2026/3/11</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lIns="109728" tIns="109728" rIns="109728" bIns="91440" anchor="ctr"/>
          <a:lstStyle>
            <a:lvl1pPr algn="l">
              <a:defRPr sz="1050" spc="1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lIns="109728" tIns="109728" rIns="109728" bIns="9144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190355"/>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82" r:id="rId6"/>
    <p:sldLayoutId id="2147483677" r:id="rId7"/>
    <p:sldLayoutId id="2147483678" r:id="rId8"/>
    <p:sldLayoutId id="2147483679" r:id="rId9"/>
    <p:sldLayoutId id="2147483681" r:id="rId10"/>
    <p:sldLayoutId id="2147483680" r:id="rId11"/>
  </p:sldLayoutIdLst>
  <p:hf hdr="0" ftr="0" dt="0"/>
  <p:txStyles>
    <p:titleStyle>
      <a:lvl1pPr algn="l" defTabSz="914400" rtl="0" eaLnBrk="1" latinLnBrk="0" hangingPunct="1">
        <a:lnSpc>
          <a:spcPct val="100000"/>
        </a:lnSpc>
        <a:spcBef>
          <a:spcPct val="0"/>
        </a:spcBef>
        <a:buNone/>
        <a:defRPr sz="4000" kern="1200" cap="none" spc="3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spc="16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spc="16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spc="16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彩色液体艺术">
            <a:extLst>
              <a:ext uri="{FF2B5EF4-FFF2-40B4-BE49-F238E27FC236}">
                <a16:creationId xmlns:a16="http://schemas.microsoft.com/office/drawing/2014/main" id="{5FD2259B-3500-3B2E-6286-7273DE381FE2}"/>
              </a:ext>
            </a:extLst>
          </p:cNvPr>
          <p:cNvPicPr>
            <a:picLocks noChangeAspect="1"/>
          </p:cNvPicPr>
          <p:nvPr/>
        </p:nvPicPr>
        <p:blipFill>
          <a:blip r:embed="rId3"/>
          <a:srcRect t="8233" b="11410"/>
          <a:stretch>
            <a:fillRect/>
          </a:stretch>
        </p:blipFill>
        <p:spPr>
          <a:xfrm>
            <a:off x="1" y="10"/>
            <a:ext cx="12192000" cy="6857989"/>
          </a:xfrm>
          <a:prstGeom prst="rect">
            <a:avLst/>
          </a:prstGeom>
        </p:spPr>
      </p:pic>
      <p:sp>
        <p:nvSpPr>
          <p:cNvPr id="20" name="Rectangle 19">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992B0337-74D1-36AE-FEE0-7998865410B9}"/>
              </a:ext>
            </a:extLst>
          </p:cNvPr>
          <p:cNvSpPr>
            <a:spLocks noGrp="1"/>
          </p:cNvSpPr>
          <p:nvPr>
            <p:ph type="ctrTitle"/>
          </p:nvPr>
        </p:nvSpPr>
        <p:spPr>
          <a:xfrm>
            <a:off x="137786" y="1779632"/>
            <a:ext cx="8075212" cy="4745182"/>
          </a:xfrm>
        </p:spPr>
        <p:txBody>
          <a:bodyPr anchor="ctr">
            <a:normAutofit/>
          </a:bodyPr>
          <a:lstStyle/>
          <a:p>
            <a:pPr algn="r"/>
            <a:r>
              <a:rPr lang="zh-CN" altLang="en-US" dirty="0"/>
              <a:t>基于复值</a:t>
            </a:r>
            <a:r>
              <a:rPr lang="en-US" altLang="zh-CN" dirty="0" err="1"/>
              <a:t>ResNet</a:t>
            </a:r>
            <a:r>
              <a:rPr lang="zh-CN" altLang="en-US" dirty="0"/>
              <a:t>的近场源参数估计 </a:t>
            </a:r>
            <a:br>
              <a:rPr lang="zh-CN" altLang="zh-CN" dirty="0"/>
            </a:br>
            <a:br>
              <a:rPr lang="zh-CN" altLang="zh-CN" dirty="0">
                <a:solidFill>
                  <a:srgbClr val="FFFFFF"/>
                </a:solidFill>
              </a:rPr>
            </a:br>
            <a:endParaRPr kumimoji="1" lang="zh-CN" altLang="en-US" dirty="0">
              <a:solidFill>
                <a:srgbClr val="FFFFFF"/>
              </a:solidFill>
            </a:endParaRPr>
          </a:p>
        </p:txBody>
      </p:sp>
      <p:sp>
        <p:nvSpPr>
          <p:cNvPr id="3" name="副标题 2">
            <a:extLst>
              <a:ext uri="{FF2B5EF4-FFF2-40B4-BE49-F238E27FC236}">
                <a16:creationId xmlns:a16="http://schemas.microsoft.com/office/drawing/2014/main" id="{7EB34FA9-7CB7-9594-FEFC-544F9132647C}"/>
              </a:ext>
            </a:extLst>
          </p:cNvPr>
          <p:cNvSpPr>
            <a:spLocks noGrp="1"/>
          </p:cNvSpPr>
          <p:nvPr>
            <p:ph type="subTitle" idx="1"/>
          </p:nvPr>
        </p:nvSpPr>
        <p:spPr>
          <a:xfrm>
            <a:off x="8712865" y="1447799"/>
            <a:ext cx="2973913" cy="4076699"/>
          </a:xfrm>
        </p:spPr>
        <p:txBody>
          <a:bodyPr anchor="ctr">
            <a:normAutofit/>
          </a:bodyPr>
          <a:lstStyle/>
          <a:p>
            <a:r>
              <a:rPr kumimoji="1" lang="zh-CN" altLang="en-US" dirty="0">
                <a:solidFill>
                  <a:srgbClr val="FFFFFF"/>
                </a:solidFill>
              </a:rPr>
              <a:t>杜承泰 </a:t>
            </a:r>
            <a:endParaRPr kumimoji="1" lang="en-US" altLang="zh-CN" dirty="0">
              <a:solidFill>
                <a:srgbClr val="FFFFFF"/>
              </a:solidFill>
            </a:endParaRPr>
          </a:p>
          <a:p>
            <a:r>
              <a:rPr kumimoji="1" lang="zh-CN" altLang="en-US" dirty="0">
                <a:solidFill>
                  <a:srgbClr val="FFFFFF"/>
                </a:solidFill>
              </a:rPr>
              <a:t>信息</a:t>
            </a:r>
            <a:r>
              <a:rPr kumimoji="1" lang="en-US" altLang="zh-CN" dirty="0">
                <a:solidFill>
                  <a:srgbClr val="FFFFFF"/>
                </a:solidFill>
              </a:rPr>
              <a:t>2203</a:t>
            </a:r>
            <a:r>
              <a:rPr kumimoji="1" lang="zh-CN" altLang="en-US" dirty="0">
                <a:solidFill>
                  <a:srgbClr val="FFFFFF"/>
                </a:solidFill>
              </a:rPr>
              <a:t> </a:t>
            </a:r>
            <a:endParaRPr kumimoji="1" lang="en-US" altLang="zh-CN" dirty="0">
              <a:solidFill>
                <a:srgbClr val="FFFFFF"/>
              </a:solidFill>
            </a:endParaRPr>
          </a:p>
          <a:p>
            <a:r>
              <a:rPr kumimoji="1" lang="en-US" altLang="zh-CN" dirty="0">
                <a:solidFill>
                  <a:srgbClr val="FFFFFF"/>
                </a:solidFill>
              </a:rPr>
              <a:t>2216113561</a:t>
            </a:r>
          </a:p>
          <a:p>
            <a:r>
              <a:rPr kumimoji="1" lang="zh-CN" altLang="en-US" b="1" dirty="0">
                <a:solidFill>
                  <a:srgbClr val="FFFFFF"/>
                </a:solidFill>
              </a:rPr>
              <a:t>指导老师：邓科</a:t>
            </a:r>
            <a:endParaRPr kumimoji="1" lang="en-US" altLang="zh-CN" b="1" dirty="0">
              <a:solidFill>
                <a:srgbClr val="FFFFFF"/>
              </a:solidFill>
            </a:endParaRPr>
          </a:p>
          <a:p>
            <a:r>
              <a:rPr kumimoji="1" lang="zh-CN" altLang="en-US" b="1" dirty="0">
                <a:solidFill>
                  <a:srgbClr val="FFFFFF"/>
                </a:solidFill>
              </a:rPr>
              <a:t>西安交通大学</a:t>
            </a:r>
            <a:endParaRPr kumimoji="1" lang="en-US" altLang="zh-CN" b="1" dirty="0">
              <a:solidFill>
                <a:srgbClr val="FFFFFF"/>
              </a:solidFill>
            </a:endParaRPr>
          </a:p>
        </p:txBody>
      </p:sp>
      <p:cxnSp>
        <p:nvCxnSpPr>
          <p:cNvPr id="22" name="Straight Connector 21">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5" name="灯片编号占位符 4">
            <a:extLst>
              <a:ext uri="{FF2B5EF4-FFF2-40B4-BE49-F238E27FC236}">
                <a16:creationId xmlns:a16="http://schemas.microsoft.com/office/drawing/2014/main" id="{784FB02A-76B7-C105-7378-496B0845202E}"/>
              </a:ext>
            </a:extLst>
          </p:cNvPr>
          <p:cNvSpPr>
            <a:spLocks noGrp="1"/>
          </p:cNvSpPr>
          <p:nvPr>
            <p:ph type="sldNum" sz="quarter" idx="12"/>
          </p:nvPr>
        </p:nvSpPr>
        <p:spPr/>
        <p:txBody>
          <a:bodyPr/>
          <a:lstStyle/>
          <a:p>
            <a:fld id="{87E7843D-FF13-4365-9478-9625B70A2705}" type="slidenum">
              <a:rPr lang="en-US" smtClean="0"/>
              <a:t>1</a:t>
            </a:fld>
            <a:endParaRPr lang="en-US"/>
          </a:p>
        </p:txBody>
      </p:sp>
    </p:spTree>
    <p:extLst>
      <p:ext uri="{BB962C8B-B14F-4D97-AF65-F5344CB8AC3E}">
        <p14:creationId xmlns:p14="http://schemas.microsoft.com/office/powerpoint/2010/main" val="367845023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2000"/>
                                  </p:stCondLst>
                                  <p:iterate type="lt">
                                    <p:tmPct val="10000"/>
                                  </p:iterate>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4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7ECCAB-E82F-2606-C49E-ABDF16DCDCA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8A51A9DF-EA60-1817-E8D7-C44BE471309A}"/>
              </a:ext>
            </a:extLst>
          </p:cNvPr>
          <p:cNvSpPr>
            <a:spLocks noGrp="1"/>
          </p:cNvSpPr>
          <p:nvPr>
            <p:ph type="title"/>
          </p:nvPr>
        </p:nvSpPr>
        <p:spPr>
          <a:xfrm>
            <a:off x="700088" y="909637"/>
            <a:ext cx="5958216" cy="1316736"/>
          </a:xfrm>
        </p:spPr>
        <p:txBody>
          <a:bodyPr>
            <a:normAutofit/>
          </a:bodyPr>
          <a:lstStyle/>
          <a:p>
            <a:r>
              <a:rPr lang="zh-CN" altLang="zh-CN"/>
              <a:t>研究</a:t>
            </a:r>
            <a:r>
              <a:rPr lang="zh-CN" altLang="en-US"/>
              <a:t>背景</a:t>
            </a:r>
            <a:r>
              <a:rPr lang="zh-CN" altLang="zh-CN"/>
              <a:t> </a:t>
            </a:r>
            <a:endParaRPr kumimoji="1" lang="zh-CN" altLang="en-US"/>
          </a:p>
        </p:txBody>
      </p:sp>
      <p:cxnSp>
        <p:nvCxnSpPr>
          <p:cNvPr id="17" name="Straight Connector 16">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内容占位符 2">
            <a:extLst>
              <a:ext uri="{FF2B5EF4-FFF2-40B4-BE49-F238E27FC236}">
                <a16:creationId xmlns:a16="http://schemas.microsoft.com/office/drawing/2014/main" id="{CACB9556-42CA-B00A-BEB9-BA8CC6371867}"/>
              </a:ext>
            </a:extLst>
          </p:cNvPr>
          <p:cNvSpPr>
            <a:spLocks noGrp="1"/>
          </p:cNvSpPr>
          <p:nvPr>
            <p:ph idx="1"/>
          </p:nvPr>
        </p:nvSpPr>
        <p:spPr>
          <a:xfrm>
            <a:off x="700087" y="2129109"/>
            <a:ext cx="6874419" cy="3819252"/>
          </a:xfrm>
        </p:spPr>
        <p:txBody>
          <a:bodyPr>
            <a:normAutofit/>
          </a:bodyPr>
          <a:lstStyle/>
          <a:p>
            <a:pPr marL="0" indent="0">
              <a:lnSpc>
                <a:spcPct val="110000"/>
              </a:lnSpc>
              <a:buNone/>
            </a:pPr>
            <a:r>
              <a:rPr lang="zh-CN" altLang="zh-CN" sz="1400" dirty="0"/>
              <a:t>随着</a:t>
            </a:r>
            <a:r>
              <a:rPr lang="en-US" altLang="zh-CN" sz="1400" dirty="0"/>
              <a:t>5G/6G</a:t>
            </a:r>
            <a:r>
              <a:rPr lang="zh-CN" altLang="zh-CN" sz="1400" dirty="0"/>
              <a:t>关键技术（毫米波、密集小区、（大规模）</a:t>
            </a:r>
            <a:r>
              <a:rPr lang="en-US" altLang="zh-CN" sz="1400" dirty="0"/>
              <a:t>MIMO</a:t>
            </a:r>
            <a:r>
              <a:rPr lang="zh-CN" altLang="zh-CN" sz="1400" dirty="0"/>
              <a:t>等）的发展，许多短距离通信场景（例如室内小区、</a:t>
            </a:r>
            <a:r>
              <a:rPr lang="en-US" altLang="zh-CN" sz="1400" dirty="0"/>
              <a:t>V2X</a:t>
            </a:r>
            <a:r>
              <a:rPr lang="zh-CN" altLang="zh-CN" sz="1400" dirty="0"/>
              <a:t>、智能家居等）中，接收端与信号源的距离往往较近，同时阵列孔径较大，使得“远场平面波假设”不再成立：电磁波前更接近近场球面波，阵列各阵元接收信号不仅相位差与角度有关，还与距离显著相关。近场条件下阵列导向矢量由“角度</a:t>
            </a:r>
            <a:r>
              <a:rPr lang="en-US" altLang="zh-CN" sz="1400" dirty="0"/>
              <a:t>+</a:t>
            </a:r>
            <a:r>
              <a:rPr lang="zh-CN" altLang="zh-CN" sz="1400" dirty="0"/>
              <a:t>距离”共同决定，传统仅依赖远场模型的达角估计算法会出现失配甚至明显性能下降。</a:t>
            </a:r>
          </a:p>
          <a:p>
            <a:pPr marL="0" indent="0">
              <a:lnSpc>
                <a:spcPct val="110000"/>
              </a:lnSpc>
              <a:buNone/>
            </a:pPr>
            <a:r>
              <a:rPr lang="zh-CN" altLang="zh-CN" sz="1400" dirty="0"/>
              <a:t>在近场达角估计中，角度与距离参数强耦合，导致传统方法往往需要多维搜索、更多快拍、更高</a:t>
            </a:r>
            <a:r>
              <a:rPr lang="en-US" altLang="zh-CN" sz="1400" dirty="0"/>
              <a:t>SNR</a:t>
            </a:r>
            <a:r>
              <a:rPr lang="zh-CN" altLang="zh-CN" sz="1400" dirty="0"/>
              <a:t>，或依赖迭代式极大似然等方法，但这些方案在低</a:t>
            </a:r>
            <a:r>
              <a:rPr lang="en-US" altLang="zh-CN" sz="1400" dirty="0"/>
              <a:t>SNR/</a:t>
            </a:r>
            <a:r>
              <a:rPr lang="zh-CN" altLang="zh-CN" sz="1400" dirty="0"/>
              <a:t>少快拍条件下精度与实时性难以兼顾。当把近场达角估计问题转为机器学习任务时，如果直接用“协方差矩阵→信号子空间→角度”的学习思路，距离的微小变化会引起信号子空间特征的较大变化，使得模型难以泛化并需要爆炸式的数据覆盖范围 </a:t>
            </a:r>
            <a:endParaRPr kumimoji="1" lang="zh-CN" altLang="en-US" sz="1400" dirty="0"/>
          </a:p>
        </p:txBody>
      </p:sp>
      <p:pic>
        <p:nvPicPr>
          <p:cNvPr id="10" name="图片 9" descr="图示&#10;&#10;AI 生成的内容可能不正确。">
            <a:extLst>
              <a:ext uri="{FF2B5EF4-FFF2-40B4-BE49-F238E27FC236}">
                <a16:creationId xmlns:a16="http://schemas.microsoft.com/office/drawing/2014/main" id="{1E0B9F06-3EA9-CBBA-9762-9CDB25D203ED}"/>
              </a:ext>
            </a:extLst>
          </p:cNvPr>
          <p:cNvPicPr>
            <a:picLocks noChangeAspect="1"/>
          </p:cNvPicPr>
          <p:nvPr/>
        </p:nvPicPr>
        <p:blipFill>
          <a:blip r:embed="rId2"/>
          <a:stretch>
            <a:fillRect/>
          </a:stretch>
        </p:blipFill>
        <p:spPr>
          <a:xfrm>
            <a:off x="8279225" y="719455"/>
            <a:ext cx="2148650" cy="2596557"/>
          </a:xfrm>
          <a:prstGeom prst="rect">
            <a:avLst/>
          </a:prstGeom>
        </p:spPr>
      </p:pic>
      <p:cxnSp>
        <p:nvCxnSpPr>
          <p:cNvPr id="19" name="Straight Connector 18">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图片 7" descr="图示&#10;&#10;AI 生成的内容可能不正确。">
            <a:extLst>
              <a:ext uri="{FF2B5EF4-FFF2-40B4-BE49-F238E27FC236}">
                <a16:creationId xmlns:a16="http://schemas.microsoft.com/office/drawing/2014/main" id="{3132CE9B-7B08-BEB7-BE6A-CA35D0CD311E}"/>
              </a:ext>
            </a:extLst>
          </p:cNvPr>
          <p:cNvPicPr>
            <a:picLocks noChangeAspect="1"/>
          </p:cNvPicPr>
          <p:nvPr/>
        </p:nvPicPr>
        <p:blipFill>
          <a:blip r:embed="rId3"/>
          <a:stretch>
            <a:fillRect/>
          </a:stretch>
        </p:blipFill>
        <p:spPr>
          <a:xfrm>
            <a:off x="8253625" y="3602695"/>
            <a:ext cx="2199850" cy="2535851"/>
          </a:xfrm>
          <a:prstGeom prst="rect">
            <a:avLst/>
          </a:prstGeom>
        </p:spPr>
      </p:pic>
      <p:sp>
        <p:nvSpPr>
          <p:cNvPr id="4" name="灯片编号占位符 3">
            <a:extLst>
              <a:ext uri="{FF2B5EF4-FFF2-40B4-BE49-F238E27FC236}">
                <a16:creationId xmlns:a16="http://schemas.microsoft.com/office/drawing/2014/main" id="{8E8474EE-21A4-85F4-4C66-A35E21F431A1}"/>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z="1100" smtClean="0"/>
              <a:pPr>
                <a:lnSpc>
                  <a:spcPct val="90000"/>
                </a:lnSpc>
                <a:spcAft>
                  <a:spcPts val="600"/>
                </a:spcAft>
              </a:pPr>
              <a:t>2</a:t>
            </a:fld>
            <a:endParaRPr lang="en-US" sz="1100"/>
          </a:p>
        </p:txBody>
      </p:sp>
    </p:spTree>
    <p:extLst>
      <p:ext uri="{BB962C8B-B14F-4D97-AF65-F5344CB8AC3E}">
        <p14:creationId xmlns:p14="http://schemas.microsoft.com/office/powerpoint/2010/main" val="1712589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54ED37-52C4-DDB6-CC33-7CE12706613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1675B21-1B2F-FCAD-D99D-0C722C074D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62C4B078-22F2-63C2-380F-62F3AB28BF0C}"/>
              </a:ext>
            </a:extLst>
          </p:cNvPr>
          <p:cNvSpPr>
            <a:spLocks noGrp="1"/>
          </p:cNvSpPr>
          <p:nvPr>
            <p:ph type="title"/>
          </p:nvPr>
        </p:nvSpPr>
        <p:spPr>
          <a:xfrm>
            <a:off x="700088" y="909637"/>
            <a:ext cx="5958216" cy="1316736"/>
          </a:xfrm>
        </p:spPr>
        <p:txBody>
          <a:bodyPr>
            <a:normAutofit/>
          </a:bodyPr>
          <a:lstStyle/>
          <a:p>
            <a:r>
              <a:rPr lang="zh-CN" altLang="zh-CN" dirty="0"/>
              <a:t>研究</a:t>
            </a:r>
            <a:r>
              <a:rPr lang="zh-CN" altLang="en-US" dirty="0"/>
              <a:t>现状</a:t>
            </a:r>
            <a:r>
              <a:rPr lang="zh-CN" altLang="zh-CN" dirty="0"/>
              <a:t> </a:t>
            </a:r>
            <a:endParaRPr kumimoji="1" lang="zh-CN" altLang="en-US" dirty="0"/>
          </a:p>
        </p:txBody>
      </p:sp>
      <p:cxnSp>
        <p:nvCxnSpPr>
          <p:cNvPr id="17" name="Straight Connector 16">
            <a:extLst>
              <a:ext uri="{FF2B5EF4-FFF2-40B4-BE49-F238E27FC236}">
                <a16:creationId xmlns:a16="http://schemas.microsoft.com/office/drawing/2014/main" id="{4276C71F-A94B-141F-80E4-D79E96C2D5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内容占位符 2">
            <a:extLst>
              <a:ext uri="{FF2B5EF4-FFF2-40B4-BE49-F238E27FC236}">
                <a16:creationId xmlns:a16="http://schemas.microsoft.com/office/drawing/2014/main" id="{D5D0C484-F6C8-F798-7CFA-D8CBB4998ED4}"/>
              </a:ext>
            </a:extLst>
          </p:cNvPr>
          <p:cNvSpPr>
            <a:spLocks noGrp="1"/>
          </p:cNvSpPr>
          <p:nvPr>
            <p:ph idx="1"/>
          </p:nvPr>
        </p:nvSpPr>
        <p:spPr>
          <a:xfrm>
            <a:off x="700087" y="2129109"/>
            <a:ext cx="10564813" cy="3819252"/>
          </a:xfrm>
        </p:spPr>
        <p:txBody>
          <a:bodyPr>
            <a:normAutofit/>
          </a:bodyPr>
          <a:lstStyle/>
          <a:p>
            <a:pPr marL="0" indent="0">
              <a:buNone/>
            </a:pPr>
            <a:r>
              <a:rPr lang="zh-CN" altLang="zh-CN" dirty="0"/>
              <a:t>在现有研究中，</a:t>
            </a:r>
            <a:r>
              <a:rPr lang="en-US" altLang="zh-CN" dirty="0"/>
              <a:t>MUSIC </a:t>
            </a:r>
            <a:r>
              <a:rPr lang="zh-CN" altLang="zh-CN" dirty="0"/>
              <a:t>等子空间方法、最大似然方法以及支持向量回归方法均被用于</a:t>
            </a:r>
            <a:r>
              <a:rPr lang="en-US" altLang="zh-CN" dirty="0"/>
              <a:t> </a:t>
            </a:r>
            <a:r>
              <a:rPr lang="en-US" altLang="zh-CN" dirty="0" err="1"/>
              <a:t>DoA</a:t>
            </a:r>
            <a:r>
              <a:rPr lang="en-US" altLang="zh-CN" dirty="0"/>
              <a:t> </a:t>
            </a:r>
            <a:r>
              <a:rPr lang="zh-CN" altLang="zh-CN" dirty="0"/>
              <a:t>估计，但这些方法通常依赖较高的信噪比和较多的快拍数，并且在近场条件下需要处理距离与角度的耦合关系，计算复杂度较高。随着无线网络中大规模数据的积累，深度学习方法逐渐被引入到</a:t>
            </a:r>
            <a:r>
              <a:rPr lang="en-US" altLang="zh-CN" dirty="0"/>
              <a:t> </a:t>
            </a:r>
            <a:r>
              <a:rPr lang="en-US" altLang="zh-CN" dirty="0" err="1"/>
              <a:t>DoA</a:t>
            </a:r>
            <a:r>
              <a:rPr lang="en-US" altLang="zh-CN" dirty="0"/>
              <a:t> </a:t>
            </a:r>
            <a:r>
              <a:rPr lang="zh-CN" altLang="zh-CN" dirty="0"/>
              <a:t>估计中。</a:t>
            </a:r>
            <a:endParaRPr lang="en-US" altLang="zh-CN" dirty="0"/>
          </a:p>
          <a:p>
            <a:pPr marL="0" indent="0">
              <a:buNone/>
            </a:pPr>
            <a:endParaRPr lang="en-US" altLang="zh-CN" dirty="0"/>
          </a:p>
          <a:p>
            <a:pPr marL="0" indent="0">
              <a:buNone/>
            </a:pPr>
            <a:r>
              <a:rPr lang="zh-CN" altLang="zh-CN" dirty="0"/>
              <a:t>然而，多数方法仍采用实值网络，将复数信号拆分为实部和虚部进行处理，这可能破坏复数数据的内在结构，导致相位信息利用不充分。相比之下，复杂值深度学习能够直接在复数域中完成特征提取与回归建模，更适合无线通信中的复数信号处理任务。</a:t>
            </a:r>
          </a:p>
        </p:txBody>
      </p:sp>
      <p:cxnSp>
        <p:nvCxnSpPr>
          <p:cNvPr id="19" name="Straight Connector 18">
            <a:extLst>
              <a:ext uri="{FF2B5EF4-FFF2-40B4-BE49-F238E27FC236}">
                <a16:creationId xmlns:a16="http://schemas.microsoft.com/office/drawing/2014/main" id="{78EF6F27-9886-C7C6-389A-982A98429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灯片编号占位符 3">
            <a:extLst>
              <a:ext uri="{FF2B5EF4-FFF2-40B4-BE49-F238E27FC236}">
                <a16:creationId xmlns:a16="http://schemas.microsoft.com/office/drawing/2014/main" id="{9410BDD4-B72B-A70C-7C35-1E115CBB5A68}"/>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z="1100" smtClean="0"/>
              <a:pPr>
                <a:lnSpc>
                  <a:spcPct val="90000"/>
                </a:lnSpc>
                <a:spcAft>
                  <a:spcPts val="600"/>
                </a:spcAft>
              </a:pPr>
              <a:t>3</a:t>
            </a:fld>
            <a:endParaRPr lang="en-US" sz="1100"/>
          </a:p>
        </p:txBody>
      </p:sp>
    </p:spTree>
    <p:extLst>
      <p:ext uri="{BB962C8B-B14F-4D97-AF65-F5344CB8AC3E}">
        <p14:creationId xmlns:p14="http://schemas.microsoft.com/office/powerpoint/2010/main" val="3682603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E909A6-3A45-617F-2AA2-8343344F9899}"/>
              </a:ext>
            </a:extLst>
          </p:cNvPr>
          <p:cNvSpPr>
            <a:spLocks noGrp="1"/>
          </p:cNvSpPr>
          <p:nvPr>
            <p:ph type="title"/>
          </p:nvPr>
        </p:nvSpPr>
        <p:spPr/>
        <p:txBody>
          <a:bodyPr/>
          <a:lstStyle/>
          <a:p>
            <a:r>
              <a:rPr kumimoji="1" lang="zh-CN" altLang="en-US" sz="3600" dirty="0"/>
              <a:t>设计流程</a:t>
            </a:r>
          </a:p>
        </p:txBody>
      </p:sp>
      <p:sp>
        <p:nvSpPr>
          <p:cNvPr id="3" name="内容占位符 2">
            <a:extLst>
              <a:ext uri="{FF2B5EF4-FFF2-40B4-BE49-F238E27FC236}">
                <a16:creationId xmlns:a16="http://schemas.microsoft.com/office/drawing/2014/main" id="{91689CE1-8B7C-B6A8-EE7B-3A0F89A358F8}"/>
              </a:ext>
            </a:extLst>
          </p:cNvPr>
          <p:cNvSpPr>
            <a:spLocks noGrp="1"/>
          </p:cNvSpPr>
          <p:nvPr>
            <p:ph idx="1"/>
          </p:nvPr>
        </p:nvSpPr>
        <p:spPr>
          <a:xfrm>
            <a:off x="700634" y="1671828"/>
            <a:ext cx="10691265" cy="5065073"/>
          </a:xfrm>
        </p:spPr>
        <p:txBody>
          <a:bodyPr/>
          <a:lstStyle/>
          <a:p>
            <a:pPr marL="0" indent="0">
              <a:buNone/>
            </a:pPr>
            <a:r>
              <a:rPr lang="zh-CN" altLang="zh-CN" dirty="0"/>
              <a:t>本项目面向</a:t>
            </a:r>
            <a:r>
              <a:rPr lang="zh-CN" altLang="zh-CN" b="1" dirty="0"/>
              <a:t>近场单信号源</a:t>
            </a:r>
            <a:r>
              <a:rPr lang="zh-CN" altLang="zh-CN" dirty="0"/>
              <a:t>到达角（</a:t>
            </a:r>
            <a:r>
              <a:rPr lang="en-US" altLang="zh-CN" dirty="0"/>
              <a:t>Direction of Arrival, DOA</a:t>
            </a:r>
            <a:r>
              <a:rPr lang="zh-CN" altLang="zh-CN" dirty="0"/>
              <a:t>）估计任务，旨在构建一个从阵列接收信号出发，经过信号处理与深度学习建模，最终实现角度高精度估计的完整处理框架。</a:t>
            </a:r>
            <a:endParaRPr lang="en-US" altLang="zh-CN" dirty="0"/>
          </a:p>
          <a:p>
            <a:pPr marL="0" indent="0">
              <a:buNone/>
            </a:pPr>
            <a:endParaRPr lang="en-US" altLang="zh-CN" dirty="0"/>
          </a:p>
          <a:p>
            <a:pPr marL="0" indent="0">
              <a:buNone/>
            </a:pPr>
            <a:r>
              <a:rPr lang="zh-CN" altLang="zh-CN" dirty="0"/>
              <a:t>针对这一问题，本项目采用“阵列信号建模</a:t>
            </a:r>
            <a:r>
              <a:rPr lang="en-US" altLang="zh-CN" dirty="0"/>
              <a:t> + </a:t>
            </a:r>
            <a:r>
              <a:rPr lang="zh-CN" altLang="zh-CN" dirty="0"/>
              <a:t>协方差结构重构</a:t>
            </a:r>
            <a:r>
              <a:rPr lang="en-US" altLang="zh-CN" dirty="0"/>
              <a:t> + </a:t>
            </a:r>
            <a:r>
              <a:rPr lang="zh-CN" altLang="zh-CN" dirty="0"/>
              <a:t>子空间特征提取</a:t>
            </a:r>
            <a:r>
              <a:rPr lang="en-US" altLang="zh-CN" dirty="0"/>
              <a:t> + </a:t>
            </a:r>
            <a:r>
              <a:rPr lang="zh-CN" altLang="zh-CN" dirty="0"/>
              <a:t>复值神经网络回归估计”的总体设计路线。</a:t>
            </a:r>
            <a:endParaRPr lang="en-US" altLang="zh-CN" dirty="0"/>
          </a:p>
          <a:p>
            <a:pPr marL="0" indent="0">
              <a:buNone/>
            </a:pPr>
            <a:endParaRPr lang="en-US" altLang="zh-CN" dirty="0"/>
          </a:p>
          <a:p>
            <a:pPr marL="0" indent="0">
              <a:buNone/>
            </a:pPr>
            <a:r>
              <a:rPr lang="zh-CN" altLang="zh-CN" dirty="0"/>
              <a:t>这样的设计兼顾了传统阵列信号处理方法的结构先验优势以及深度学习模型的非线性拟合能力。</a:t>
            </a:r>
          </a:p>
          <a:p>
            <a:pPr marL="0" indent="0">
              <a:buNone/>
            </a:pPr>
            <a:endParaRPr kumimoji="1" lang="zh-CN" altLang="en-US" dirty="0"/>
          </a:p>
        </p:txBody>
      </p:sp>
      <p:sp>
        <p:nvSpPr>
          <p:cNvPr id="4" name="灯片编号占位符 3">
            <a:extLst>
              <a:ext uri="{FF2B5EF4-FFF2-40B4-BE49-F238E27FC236}">
                <a16:creationId xmlns:a16="http://schemas.microsoft.com/office/drawing/2014/main" id="{F316B465-D6DB-FCA8-9AB1-CAC98240D914}"/>
              </a:ext>
            </a:extLst>
          </p:cNvPr>
          <p:cNvSpPr>
            <a:spLocks noGrp="1"/>
          </p:cNvSpPr>
          <p:nvPr>
            <p:ph type="sldNum" sz="quarter" idx="12"/>
          </p:nvPr>
        </p:nvSpPr>
        <p:spPr/>
        <p:txBody>
          <a:bodyPr/>
          <a:lstStyle/>
          <a:p>
            <a:fld id="{87E7843D-FF13-4365-9478-9625B70A2705}" type="slidenum">
              <a:rPr lang="en-US" smtClean="0"/>
              <a:t>4</a:t>
            </a:fld>
            <a:endParaRPr lang="en-US"/>
          </a:p>
        </p:txBody>
      </p:sp>
    </p:spTree>
    <p:extLst>
      <p:ext uri="{BB962C8B-B14F-4D97-AF65-F5344CB8AC3E}">
        <p14:creationId xmlns:p14="http://schemas.microsoft.com/office/powerpoint/2010/main" val="3549899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4A4B8A56-A4A5-4172-3226-F5ADF64F88F2}"/>
              </a:ext>
            </a:extLst>
          </p:cNvPr>
          <p:cNvSpPr>
            <a:spLocks noGrp="1"/>
          </p:cNvSpPr>
          <p:nvPr>
            <p:ph type="title"/>
          </p:nvPr>
        </p:nvSpPr>
        <p:spPr>
          <a:xfrm>
            <a:off x="704088" y="914400"/>
            <a:ext cx="10780776" cy="1180210"/>
          </a:xfrm>
        </p:spPr>
        <p:txBody>
          <a:bodyPr>
            <a:normAutofit/>
          </a:bodyPr>
          <a:lstStyle/>
          <a:p>
            <a:r>
              <a:rPr lang="zh-CN" altLang="en-US" dirty="0"/>
              <a:t>系统模型与问题描述</a:t>
            </a:r>
            <a:endParaRPr kumimoji="1" lang="zh-CN" altLang="en-US" dirty="0"/>
          </a:p>
        </p:txBody>
      </p:sp>
      <p:cxnSp>
        <p:nvCxnSpPr>
          <p:cNvPr id="28" name="Straight Connector 27">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图片 5" descr="图示&#10;&#10;AI 生成的内容可能不正确。">
            <a:extLst>
              <a:ext uri="{FF2B5EF4-FFF2-40B4-BE49-F238E27FC236}">
                <a16:creationId xmlns:a16="http://schemas.microsoft.com/office/drawing/2014/main" id="{35870F3D-0DDD-B09B-405B-4147D664E2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0098" y="2458493"/>
            <a:ext cx="4413513" cy="2946020"/>
          </a:xfrm>
          <a:prstGeom prst="rect">
            <a:avLst/>
          </a:prstGeom>
        </p:spPr>
      </p:pic>
      <p:sp>
        <p:nvSpPr>
          <p:cNvPr id="3" name="内容占位符 2">
            <a:extLst>
              <a:ext uri="{FF2B5EF4-FFF2-40B4-BE49-F238E27FC236}">
                <a16:creationId xmlns:a16="http://schemas.microsoft.com/office/drawing/2014/main" id="{B393885B-BD3F-BA4F-DB72-2369A7C0086C}"/>
              </a:ext>
            </a:extLst>
          </p:cNvPr>
          <p:cNvSpPr>
            <a:spLocks noGrp="1"/>
          </p:cNvSpPr>
          <p:nvPr>
            <p:ph idx="1"/>
          </p:nvPr>
        </p:nvSpPr>
        <p:spPr>
          <a:xfrm>
            <a:off x="6094476" y="2458493"/>
            <a:ext cx="4819903" cy="3775456"/>
          </a:xfrm>
        </p:spPr>
        <p:txBody>
          <a:bodyPr>
            <a:normAutofit/>
          </a:bodyPr>
          <a:lstStyle/>
          <a:p>
            <a:pPr marL="0" indent="0">
              <a:lnSpc>
                <a:spcPct val="110000"/>
              </a:lnSpc>
              <a:buNone/>
            </a:pPr>
            <a:r>
              <a:rPr lang="zh-CN" altLang="zh-CN" dirty="0"/>
              <a:t>本仿真研究的对象是短距离近场</a:t>
            </a:r>
            <a:r>
              <a:rPr lang="en-US" altLang="zh-CN" dirty="0"/>
              <a:t> MIMO </a:t>
            </a:r>
            <a:r>
              <a:rPr lang="zh-CN" altLang="zh-CN" dirty="0"/>
              <a:t>通信场景下的到达角估计问题。系统由一个配置多天线阵列的接入点（</a:t>
            </a:r>
            <a:r>
              <a:rPr lang="en-US" altLang="zh-CN" dirty="0"/>
              <a:t>Access Point, AP</a:t>
            </a:r>
            <a:r>
              <a:rPr lang="zh-CN" altLang="zh-CN" dirty="0"/>
              <a:t>）和多个移动终端（</a:t>
            </a:r>
            <a:r>
              <a:rPr lang="en-US" altLang="zh-CN" dirty="0"/>
              <a:t>Mobile Terminals, MTs</a:t>
            </a:r>
            <a:r>
              <a:rPr lang="zh-CN" altLang="zh-CN" dirty="0"/>
              <a:t>）组成，各移动终端向接入点发送信号，接入点利用阵列接收信号之间的空间差异完成信号来向估计。</a:t>
            </a:r>
          </a:p>
          <a:p>
            <a:pPr marL="0" indent="0">
              <a:lnSpc>
                <a:spcPct val="110000"/>
              </a:lnSpc>
              <a:buNone/>
            </a:pPr>
            <a:endParaRPr kumimoji="1" lang="zh-CN" altLang="en-US" sz="1700" dirty="0"/>
          </a:p>
        </p:txBody>
      </p:sp>
      <p:sp>
        <p:nvSpPr>
          <p:cNvPr id="4" name="灯片编号占位符 3">
            <a:extLst>
              <a:ext uri="{FF2B5EF4-FFF2-40B4-BE49-F238E27FC236}">
                <a16:creationId xmlns:a16="http://schemas.microsoft.com/office/drawing/2014/main" id="{C4788CB0-59F9-99E1-477C-D21749F89E26}"/>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z="1100" smtClean="0"/>
              <a:pPr>
                <a:lnSpc>
                  <a:spcPct val="90000"/>
                </a:lnSpc>
                <a:spcAft>
                  <a:spcPts val="600"/>
                </a:spcAft>
              </a:pPr>
              <a:t>5</a:t>
            </a:fld>
            <a:endParaRPr lang="en-US" sz="1100"/>
          </a:p>
        </p:txBody>
      </p:sp>
    </p:spTree>
    <p:extLst>
      <p:ext uri="{BB962C8B-B14F-4D97-AF65-F5344CB8AC3E}">
        <p14:creationId xmlns:p14="http://schemas.microsoft.com/office/powerpoint/2010/main" val="2677229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5FA0DE-84DE-2F48-AD41-417D17F9D71C}"/>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55F1FA3-B171-D6DB-902A-038D6751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38C3954C-7DDD-C4E3-8693-A7B8DC8ED3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4A15618-4A8C-BF46-3701-618F3C8EB598}"/>
                  </a:ext>
                </a:extLst>
              </p:cNvPr>
              <p:cNvSpPr>
                <a:spLocks noGrp="1"/>
              </p:cNvSpPr>
              <p:nvPr>
                <p:ph idx="1"/>
              </p:nvPr>
            </p:nvSpPr>
            <p:spPr>
              <a:xfrm>
                <a:off x="7010400" y="909968"/>
                <a:ext cx="5181600" cy="5446382"/>
              </a:xfrm>
            </p:spPr>
            <p:txBody>
              <a:bodyPr>
                <a:normAutofit/>
              </a:bodyPr>
              <a:lstStyle/>
              <a:p>
                <a:pPr marL="0" indent="0">
                  <a:buNone/>
                </a:pPr>
                <a:r>
                  <a:rPr lang="zh-CN" altLang="zh-CN" dirty="0"/>
                  <a:t>第</a:t>
                </a:r>
                <a:r>
                  <a:rPr lang="en-US" altLang="zh-CN" dirty="0"/>
                  <a:t>𝑘</a:t>
                </a:r>
                <a:r>
                  <a:rPr lang="zh-CN" altLang="zh-CN" dirty="0"/>
                  <a:t>个快拍时刻接收阵列的观测信号可以表示为各个近场信号源贡献与噪声项的叠加，即</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𝑦</m:t>
                      </m:r>
                      <m:d>
                        <m:dPr>
                          <m:ctrlPr>
                            <a:rPr lang="zh-CN" altLang="zh-CN" i="1">
                              <a:latin typeface="Cambria Math" panose="02040503050406030204" pitchFamily="18" charset="0"/>
                            </a:rPr>
                          </m:ctrlPr>
                        </m:dPr>
                        <m:e>
                          <m:r>
                            <a:rPr lang="en-US" altLang="zh-CN" i="1">
                              <a:latin typeface="Cambria Math" panose="02040503050406030204" pitchFamily="18" charset="0"/>
                            </a:rPr>
                            <m:t>𝑘</m:t>
                          </m:r>
                        </m:e>
                      </m:d>
                      <m:r>
                        <a:rPr lang="en-US" altLang="zh-CN" i="1">
                          <a:latin typeface="Cambria Math" panose="02040503050406030204" pitchFamily="18" charset="0"/>
                        </a:rPr>
                        <m:t>=</m:t>
                      </m:r>
                      <m:r>
                        <a:rPr lang="en-US" altLang="zh-CN" i="1">
                          <a:latin typeface="Cambria Math" panose="02040503050406030204" pitchFamily="18" charset="0"/>
                        </a:rPr>
                        <m:t>𝐴</m:t>
                      </m:r>
                      <m:d>
                        <m:dPr>
                          <m:ctrlPr>
                            <a:rPr lang="zh-CN" altLang="zh-CN" i="1">
                              <a:latin typeface="Cambria Math" panose="02040503050406030204" pitchFamily="18" charset="0"/>
                            </a:rPr>
                          </m:ctrlPr>
                        </m:dPr>
                        <m:e>
                          <m:r>
                            <a:rPr lang="en-US" altLang="zh-CN" i="1">
                              <a:latin typeface="Cambria Math" panose="02040503050406030204" pitchFamily="18" charset="0"/>
                            </a:rPr>
                            <m:t>𝜃</m:t>
                          </m:r>
                          <m:r>
                            <a:rPr lang="en-US" altLang="zh-CN" i="1">
                              <a:latin typeface="Cambria Math" panose="02040503050406030204" pitchFamily="18" charset="0"/>
                            </a:rPr>
                            <m:t>,</m:t>
                          </m:r>
                          <m:r>
                            <a:rPr lang="en-US" altLang="zh-CN" i="1">
                              <a:latin typeface="Cambria Math" panose="02040503050406030204" pitchFamily="18" charset="0"/>
                            </a:rPr>
                            <m:t>𝑟</m:t>
                          </m:r>
                        </m:e>
                      </m:d>
                      <m:r>
                        <a:rPr lang="en-US" altLang="zh-CN" i="1">
                          <a:latin typeface="Cambria Math" panose="02040503050406030204" pitchFamily="18" charset="0"/>
                        </a:rPr>
                        <m:t>𝑠</m:t>
                      </m:r>
                      <m:d>
                        <m:dPr>
                          <m:ctrlPr>
                            <a:rPr lang="zh-CN" altLang="zh-CN" i="1">
                              <a:latin typeface="Cambria Math" panose="02040503050406030204" pitchFamily="18" charset="0"/>
                            </a:rPr>
                          </m:ctrlPr>
                        </m:dPr>
                        <m:e>
                          <m:r>
                            <a:rPr lang="en-US" altLang="zh-CN" i="1">
                              <a:latin typeface="Cambria Math" panose="02040503050406030204" pitchFamily="18" charset="0"/>
                            </a:rPr>
                            <m:t>𝑘</m:t>
                          </m:r>
                        </m:e>
                      </m:d>
                      <m:r>
                        <a:rPr lang="en-US" altLang="zh-CN" i="1">
                          <a:latin typeface="Cambria Math" panose="02040503050406030204" pitchFamily="18" charset="0"/>
                        </a:rPr>
                        <m:t>+</m:t>
                      </m:r>
                      <m:r>
                        <a:rPr lang="en-US" altLang="zh-CN" i="1">
                          <a:latin typeface="Cambria Math" panose="02040503050406030204" pitchFamily="18" charset="0"/>
                        </a:rPr>
                        <m:t>𝑧</m:t>
                      </m:r>
                      <m:d>
                        <m:dPr>
                          <m:ctrlPr>
                            <a:rPr lang="en-US" altLang="zh-CN" i="1">
                              <a:latin typeface="Cambria Math" panose="02040503050406030204" pitchFamily="18" charset="0"/>
                            </a:rPr>
                          </m:ctrlPr>
                        </m:dPr>
                        <m:e>
                          <m:r>
                            <a:rPr lang="en-US" altLang="zh-CN" i="1">
                              <a:latin typeface="Cambria Math" panose="02040503050406030204" pitchFamily="18" charset="0"/>
                            </a:rPr>
                            <m:t>𝑘</m:t>
                          </m:r>
                        </m:e>
                      </m:d>
                    </m:oMath>
                  </m:oMathPara>
                </a14:m>
                <a:endParaRPr lang="en-US" altLang="zh-CN" dirty="0"/>
              </a:p>
              <a:p>
                <a:pPr marL="0" indent="0">
                  <a:buNone/>
                </a:pPr>
                <a:endParaRPr lang="en-US" altLang="zh-CN" dirty="0"/>
              </a:p>
              <a:p>
                <a:pPr marL="0" indent="0">
                  <a:buNone/>
                </a:pPr>
                <a:endParaRPr lang="zh-CN" altLang="zh-CN" dirty="0"/>
              </a:p>
              <a:p>
                <a:pPr marL="0" indent="0">
                  <a:buNone/>
                </a:pPr>
                <a:r>
                  <a:rPr lang="zh-CN" altLang="zh-CN" dirty="0"/>
                  <a:t>其中，</a:t>
                </a:r>
                <a:r>
                  <a:rPr lang="en-US" altLang="zh-CN" dirty="0"/>
                  <a:t>𝐴(𝜃,𝑟)</a:t>
                </a:r>
                <a:r>
                  <a:rPr lang="zh-CN" altLang="zh-CN" dirty="0"/>
                  <a:t>为近场阵列流形矩阵，表明阵列响应同时由方向参数</a:t>
                </a:r>
                <a:r>
                  <a:rPr lang="en-US" altLang="zh-CN" dirty="0"/>
                  <a:t>𝜃</a:t>
                </a:r>
                <a:r>
                  <a:rPr lang="zh-CN" altLang="zh-CN" dirty="0"/>
                  <a:t>和距离参数</a:t>
                </a:r>
                <a:r>
                  <a:rPr lang="en-US" altLang="zh-CN" dirty="0"/>
                  <a:t>𝑟</a:t>
                </a:r>
                <a:r>
                  <a:rPr lang="zh-CN" altLang="zh-CN" dirty="0"/>
                  <a:t>决定；</a:t>
                </a:r>
                <a:r>
                  <a:rPr lang="en-US" altLang="zh-CN" dirty="0"/>
                  <a:t>𝑠(𝑘)</a:t>
                </a:r>
                <a:r>
                  <a:rPr lang="zh-CN" altLang="zh-CN" dirty="0"/>
                  <a:t>为源信号向量；</a:t>
                </a:r>
                <a:r>
                  <a:rPr lang="en-US" altLang="zh-CN" dirty="0"/>
                  <a:t>𝑧(𝑘)</a:t>
                </a:r>
                <a:r>
                  <a:rPr lang="zh-CN" altLang="zh-CN" dirty="0"/>
                  <a:t>为加性噪声向量。</a:t>
                </a:r>
                <a:endParaRPr lang="en-US" altLang="zh-CN" dirty="0"/>
              </a:p>
              <a:p>
                <a:pPr marL="0" indent="0">
                  <a:lnSpc>
                    <a:spcPct val="110000"/>
                  </a:lnSpc>
                  <a:buNone/>
                </a:pPr>
                <a:endParaRPr kumimoji="1" lang="zh-CN" altLang="en-US" sz="1700" dirty="0"/>
              </a:p>
            </p:txBody>
          </p:sp>
        </mc:Choice>
        <mc:Fallback xmlns="">
          <p:sp>
            <p:nvSpPr>
              <p:cNvPr id="3" name="内容占位符 2">
                <a:extLst>
                  <a:ext uri="{FF2B5EF4-FFF2-40B4-BE49-F238E27FC236}">
                    <a16:creationId xmlns:a16="http://schemas.microsoft.com/office/drawing/2014/main" id="{94A15618-4A8C-BF46-3701-618F3C8EB598}"/>
                  </a:ext>
                </a:extLst>
              </p:cNvPr>
              <p:cNvSpPr>
                <a:spLocks noGrp="1" noRot="1" noChangeAspect="1" noMove="1" noResize="1" noEditPoints="1" noAdjustHandles="1" noChangeArrowheads="1" noChangeShapeType="1" noTextEdit="1"/>
              </p:cNvSpPr>
              <p:nvPr>
                <p:ph idx="1"/>
              </p:nvPr>
            </p:nvSpPr>
            <p:spPr>
              <a:xfrm>
                <a:off x="7010400" y="909968"/>
                <a:ext cx="5181600" cy="5446382"/>
              </a:xfrm>
              <a:blipFill>
                <a:blip r:embed="rId2"/>
                <a:stretch>
                  <a:fillRect l="-978" r="-24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27B7AF9B-7ECD-B777-F0A2-2AC018047C09}"/>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z="1100" smtClean="0"/>
              <a:pPr>
                <a:lnSpc>
                  <a:spcPct val="90000"/>
                </a:lnSpc>
                <a:spcAft>
                  <a:spcPts val="600"/>
                </a:spcAft>
              </a:pPr>
              <a:t>6</a:t>
            </a:fld>
            <a:endParaRPr lang="en-US" sz="1100"/>
          </a:p>
        </p:txBody>
      </p:sp>
      <p:pic>
        <p:nvPicPr>
          <p:cNvPr id="5124" name="Picture 4">
            <a:extLst>
              <a:ext uri="{FF2B5EF4-FFF2-40B4-BE49-F238E27FC236}">
                <a16:creationId xmlns:a16="http://schemas.microsoft.com/office/drawing/2014/main" id="{382E65C1-F166-E4C9-BE87-DE57D4F88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05" y="1444753"/>
            <a:ext cx="6400191" cy="4266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329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7DD957-5124-2065-B07A-F91EAC335930}"/>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071B7B2-6A82-727F-9F20-0889F1F9B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DC71ADAA-7F68-3BE4-A229-545102A66E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灯片编号占位符 3">
            <a:extLst>
              <a:ext uri="{FF2B5EF4-FFF2-40B4-BE49-F238E27FC236}">
                <a16:creationId xmlns:a16="http://schemas.microsoft.com/office/drawing/2014/main" id="{935BCB8C-06BA-217B-3591-8F5E06E73DA3}"/>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z="1100" smtClean="0"/>
              <a:pPr>
                <a:lnSpc>
                  <a:spcPct val="90000"/>
                </a:lnSpc>
                <a:spcAft>
                  <a:spcPts val="600"/>
                </a:spcAft>
              </a:pPr>
              <a:t>7</a:t>
            </a:fld>
            <a:endParaRPr lang="en-US" sz="1100"/>
          </a:p>
        </p:txBody>
      </p:sp>
      <p:sp>
        <p:nvSpPr>
          <p:cNvPr id="5" name="文本框 4">
            <a:extLst>
              <a:ext uri="{FF2B5EF4-FFF2-40B4-BE49-F238E27FC236}">
                <a16:creationId xmlns:a16="http://schemas.microsoft.com/office/drawing/2014/main" id="{0D631B93-F35D-E4F6-4FF2-DB49F4D247D8}"/>
              </a:ext>
            </a:extLst>
          </p:cNvPr>
          <p:cNvSpPr txBox="1"/>
          <p:nvPr/>
        </p:nvSpPr>
        <p:spPr>
          <a:xfrm>
            <a:off x="1109472" y="1075421"/>
            <a:ext cx="9368028" cy="707886"/>
          </a:xfrm>
          <a:prstGeom prst="rect">
            <a:avLst/>
          </a:prstGeom>
          <a:noFill/>
        </p:spPr>
        <p:txBody>
          <a:bodyPr wrap="square">
            <a:spAutoFit/>
          </a:bodyPr>
          <a:lstStyle/>
          <a:p>
            <a:pPr lvl="0" algn="just"/>
            <a:r>
              <a:rPr lang="zh-CN" altLang="zh-CN" sz="4000" b="1" kern="100" dirty="0">
                <a:effectLst/>
                <a:latin typeface="Cambria Math" panose="02040503050406030204" pitchFamily="18" charset="0"/>
                <a:ea typeface="宋体" panose="02010600030101010101" pitchFamily="2" charset="-122"/>
              </a:rPr>
              <a:t>信号与处理与特征提取方法设计</a:t>
            </a:r>
            <a:endParaRPr lang="zh-CN" altLang="zh-CN" sz="40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CEFB1DF-582C-FC4C-1091-481A7D57DF88}"/>
                  </a:ext>
                </a:extLst>
              </p:cNvPr>
              <p:cNvSpPr txBox="1"/>
              <p:nvPr/>
            </p:nvSpPr>
            <p:spPr>
              <a:xfrm>
                <a:off x="1319827" y="2168516"/>
                <a:ext cx="10114340" cy="1138773"/>
              </a:xfrm>
              <a:prstGeom prst="rect">
                <a:avLst/>
              </a:prstGeom>
              <a:noFill/>
            </p:spPr>
            <p:txBody>
              <a:bodyPr wrap="square">
                <a:spAutoFit/>
              </a:bodyPr>
              <a:lstStyle/>
              <a:p>
                <a:pPr algn="just">
                  <a:buNone/>
                </a:pPr>
                <a:r>
                  <a:rPr lang="zh-CN" altLang="zh-CN" dirty="0"/>
                  <a:t>对于第</a:t>
                </a:r>
                <a:r>
                  <a:rPr lang="zh-CN" altLang="en-US" dirty="0"/>
                  <a:t> </a:t>
                </a:r>
                <a:r>
                  <a:rPr lang="en-US" altLang="zh-CN" dirty="0"/>
                  <a:t>𝑘</a:t>
                </a:r>
                <a:r>
                  <a:rPr lang="zh-CN" altLang="en-US" dirty="0"/>
                  <a:t> </a:t>
                </a:r>
                <a:r>
                  <a:rPr lang="zh-CN" altLang="zh-CN" dirty="0"/>
                  <a:t>个快拍的接收信号</a:t>
                </a:r>
                <a:r>
                  <a:rPr lang="zh-CN" altLang="zh-CN" sz="1800" kern="100" dirty="0">
                    <a:effectLst/>
                    <a:latin typeface="Times New Roman" panose="02020603050405020304" pitchFamily="18" charset="0"/>
                    <a:ea typeface="宋体" panose="02010600030101010101" pitchFamily="2" charset="-122"/>
                  </a:rPr>
                  <a:t>空间相关矩阵可表示为</a:t>
                </a:r>
                <a:endParaRPr lang="zh-CN" altLang="zh-CN" sz="1400" kern="100" dirty="0">
                  <a:effectLst/>
                  <a:latin typeface="Times New Roman" panose="02020603050405020304" pitchFamily="18" charset="0"/>
                  <a:ea typeface="宋体" panose="02010600030101010101" pitchFamily="2" charset="-122"/>
                </a:endParaRPr>
              </a:p>
              <a:p>
                <a:pPr algn="just">
                  <a:buNone/>
                </a:pPr>
                <a14:m>
                  <m:oMathPara xmlns:m="http://schemas.openxmlformats.org/officeDocument/2006/math">
                    <m:oMathParaPr>
                      <m:jc m:val="centerGroup"/>
                    </m:oMathParaPr>
                    <m:oMath xmlns:m="http://schemas.openxmlformats.org/officeDocument/2006/math">
                      <m:r>
                        <a:rPr lang="en-US" altLang="zh-CN" sz="1800" i="1" kern="100">
                          <a:solidFill>
                            <a:srgbClr val="000000"/>
                          </a:solidFill>
                          <a:effectLst/>
                          <a:latin typeface="Cambria Math" panose="02040503050406030204" pitchFamily="18" charset="0"/>
                          <a:ea typeface="宋体" panose="02010600030101010101" pitchFamily="2" charset="-122"/>
                        </a:rPr>
                        <m:t>𝑅</m:t>
                      </m:r>
                      <m:r>
                        <a:rPr lang="en-US" altLang="zh-CN" sz="1800" i="1" kern="100">
                          <a:solidFill>
                            <a:srgbClr val="000000"/>
                          </a:solidFill>
                          <a:effectLst/>
                          <a:latin typeface="Cambria Math" panose="02040503050406030204" pitchFamily="18" charset="0"/>
                          <a:ea typeface="宋体" panose="02010600030101010101" pitchFamily="2" charset="-122"/>
                        </a:rPr>
                        <m:t>=</m:t>
                      </m:r>
                      <m:r>
                        <a:rPr lang="en-US" altLang="zh-CN" sz="1800" i="1" kern="100">
                          <a:solidFill>
                            <a:srgbClr val="000000"/>
                          </a:solidFill>
                          <a:effectLst/>
                          <a:latin typeface="Cambria Math" panose="02040503050406030204" pitchFamily="18" charset="0"/>
                          <a:ea typeface="宋体" panose="02010600030101010101" pitchFamily="2" charset="-122"/>
                        </a:rPr>
                        <m:t>𝐸</m:t>
                      </m:r>
                      <m:d>
                        <m:dPr>
                          <m:begChr m:val="["/>
                          <m:endChr m:val="]"/>
                          <m:ctrlPr>
                            <a:rPr lang="zh-CN" altLang="zh-CN" sz="1800" i="1" kern="100">
                              <a:solidFill>
                                <a:srgbClr val="000000"/>
                              </a:solidFill>
                              <a:effectLst/>
                              <a:latin typeface="Cambria Math" panose="02040503050406030204" pitchFamily="18" charset="0"/>
                              <a:ea typeface="Cambria Math" panose="02040503050406030204" pitchFamily="18" charset="0"/>
                            </a:rPr>
                          </m:ctrlPr>
                        </m:dPr>
                        <m:e>
                          <m:r>
                            <a:rPr lang="en-US" altLang="zh-CN" sz="1800" i="1" kern="100">
                              <a:solidFill>
                                <a:srgbClr val="000000"/>
                              </a:solidFill>
                              <a:effectLst/>
                              <a:latin typeface="Cambria Math" panose="02040503050406030204" pitchFamily="18" charset="0"/>
                              <a:ea typeface="宋体" panose="02010600030101010101" pitchFamily="2" charset="-122"/>
                            </a:rPr>
                            <m:t>𝑦</m:t>
                          </m:r>
                          <m:d>
                            <m:dPr>
                              <m:ctrlPr>
                                <a:rPr lang="zh-CN" altLang="zh-CN" sz="1800" i="1" kern="100">
                                  <a:solidFill>
                                    <a:srgbClr val="000000"/>
                                  </a:solidFill>
                                  <a:effectLst/>
                                  <a:latin typeface="Cambria Math" panose="02040503050406030204" pitchFamily="18" charset="0"/>
                                  <a:ea typeface="Cambria Math" panose="02040503050406030204" pitchFamily="18" charset="0"/>
                                </a:rPr>
                              </m:ctrlPr>
                            </m:dPr>
                            <m:e>
                              <m:r>
                                <a:rPr lang="en-US" altLang="zh-CN" sz="1800" i="1" kern="100">
                                  <a:solidFill>
                                    <a:srgbClr val="000000"/>
                                  </a:solidFill>
                                  <a:effectLst/>
                                  <a:latin typeface="Cambria Math" panose="02040503050406030204" pitchFamily="18" charset="0"/>
                                  <a:ea typeface="宋体" panose="02010600030101010101" pitchFamily="2" charset="-122"/>
                                </a:rPr>
                                <m:t>𝑘</m:t>
                              </m:r>
                            </m:e>
                          </m:d>
                          <m:sSup>
                            <m:sSupPr>
                              <m:ctrlPr>
                                <a:rPr lang="zh-CN" altLang="zh-CN" sz="1800" i="1" kern="100">
                                  <a:solidFill>
                                    <a:srgbClr val="000000"/>
                                  </a:solidFill>
                                  <a:effectLst/>
                                  <a:latin typeface="Cambria Math" panose="02040503050406030204" pitchFamily="18" charset="0"/>
                                  <a:ea typeface="Cambria Math" panose="02040503050406030204" pitchFamily="18" charset="0"/>
                                </a:rPr>
                              </m:ctrlPr>
                            </m:sSupPr>
                            <m:e>
                              <m:r>
                                <a:rPr lang="en-US" altLang="zh-CN" sz="1800" i="1" kern="100">
                                  <a:solidFill>
                                    <a:srgbClr val="000000"/>
                                  </a:solidFill>
                                  <a:effectLst/>
                                  <a:latin typeface="Cambria Math" panose="02040503050406030204" pitchFamily="18" charset="0"/>
                                  <a:ea typeface="宋体" panose="02010600030101010101" pitchFamily="2" charset="-122"/>
                                </a:rPr>
                                <m:t>𝑦</m:t>
                              </m:r>
                            </m:e>
                            <m:sup>
                              <m:r>
                                <a:rPr lang="en-US" altLang="zh-CN" sz="1800" i="1" kern="100">
                                  <a:solidFill>
                                    <a:srgbClr val="000000"/>
                                  </a:solidFill>
                                  <a:effectLst/>
                                  <a:latin typeface="Cambria Math" panose="02040503050406030204" pitchFamily="18" charset="0"/>
                                  <a:ea typeface="宋体" panose="02010600030101010101" pitchFamily="2" charset="-122"/>
                                </a:rPr>
                                <m:t>𝐻</m:t>
                              </m:r>
                            </m:sup>
                          </m:sSup>
                          <m:d>
                            <m:dPr>
                              <m:ctrlPr>
                                <a:rPr lang="zh-CN" altLang="zh-CN" sz="1800" i="1" kern="100">
                                  <a:solidFill>
                                    <a:srgbClr val="000000"/>
                                  </a:solidFill>
                                  <a:effectLst/>
                                  <a:latin typeface="Cambria Math" panose="02040503050406030204" pitchFamily="18" charset="0"/>
                                  <a:ea typeface="Cambria Math" panose="02040503050406030204" pitchFamily="18" charset="0"/>
                                </a:rPr>
                              </m:ctrlPr>
                            </m:dPr>
                            <m:e>
                              <m:r>
                                <a:rPr lang="en-US" altLang="zh-CN" sz="1800" i="1" kern="100">
                                  <a:solidFill>
                                    <a:srgbClr val="000000"/>
                                  </a:solidFill>
                                  <a:effectLst/>
                                  <a:latin typeface="Cambria Math" panose="02040503050406030204" pitchFamily="18" charset="0"/>
                                  <a:ea typeface="宋体" panose="02010600030101010101" pitchFamily="2" charset="-122"/>
                                </a:rPr>
                                <m:t>𝑘</m:t>
                              </m:r>
                            </m:e>
                          </m:d>
                        </m:e>
                      </m:d>
                      <m:r>
                        <a:rPr lang="en-US" altLang="zh-CN" sz="1800" i="1" kern="100">
                          <a:solidFill>
                            <a:srgbClr val="000000"/>
                          </a:solidFill>
                          <a:effectLst/>
                          <a:latin typeface="Cambria Math" panose="02040503050406030204" pitchFamily="18" charset="0"/>
                          <a:ea typeface="宋体" panose="02010600030101010101" pitchFamily="2" charset="-122"/>
                        </a:rPr>
                        <m:t>=</m:t>
                      </m:r>
                      <m:r>
                        <a:rPr lang="en-US" altLang="zh-CN" sz="1800" i="1" kern="100">
                          <a:solidFill>
                            <a:srgbClr val="000000"/>
                          </a:solidFill>
                          <a:effectLst/>
                          <a:latin typeface="Cambria Math" panose="02040503050406030204" pitchFamily="18" charset="0"/>
                          <a:ea typeface="宋体" panose="02010600030101010101" pitchFamily="2" charset="-122"/>
                        </a:rPr>
                        <m:t>𝐴</m:t>
                      </m:r>
                      <m:sSub>
                        <m:sSubPr>
                          <m:ctrlPr>
                            <a:rPr lang="zh-CN" altLang="zh-CN" sz="1800" i="1" kern="100">
                              <a:solidFill>
                                <a:srgbClr val="000000"/>
                              </a:solidFill>
                              <a:effectLst/>
                              <a:latin typeface="Cambria Math" panose="02040503050406030204" pitchFamily="18" charset="0"/>
                              <a:ea typeface="Cambria Math" panose="02040503050406030204" pitchFamily="18" charset="0"/>
                            </a:rPr>
                          </m:ctrlPr>
                        </m:sSubPr>
                        <m:e>
                          <m:r>
                            <a:rPr lang="en-US" altLang="zh-CN" sz="1800" i="1" kern="100">
                              <a:solidFill>
                                <a:srgbClr val="000000"/>
                              </a:solidFill>
                              <a:effectLst/>
                              <a:latin typeface="Cambria Math" panose="02040503050406030204" pitchFamily="18" charset="0"/>
                              <a:ea typeface="宋体" panose="02010600030101010101" pitchFamily="2" charset="-122"/>
                            </a:rPr>
                            <m:t>𝑅</m:t>
                          </m:r>
                        </m:e>
                        <m:sub>
                          <m:r>
                            <a:rPr lang="en-US" altLang="zh-CN" sz="1800" i="1" kern="100">
                              <a:solidFill>
                                <a:srgbClr val="000000"/>
                              </a:solidFill>
                              <a:effectLst/>
                              <a:latin typeface="Cambria Math" panose="02040503050406030204" pitchFamily="18" charset="0"/>
                              <a:ea typeface="宋体" panose="02010600030101010101" pitchFamily="2" charset="-122"/>
                            </a:rPr>
                            <m:t>𝑠</m:t>
                          </m:r>
                        </m:sub>
                      </m:sSub>
                      <m:sSup>
                        <m:sSupPr>
                          <m:ctrlPr>
                            <a:rPr lang="zh-CN" altLang="zh-CN" sz="1800" i="1" kern="100">
                              <a:solidFill>
                                <a:srgbClr val="000000"/>
                              </a:solidFill>
                              <a:effectLst/>
                              <a:latin typeface="Cambria Math" panose="02040503050406030204" pitchFamily="18" charset="0"/>
                              <a:ea typeface="Cambria Math" panose="02040503050406030204" pitchFamily="18" charset="0"/>
                            </a:rPr>
                          </m:ctrlPr>
                        </m:sSupPr>
                        <m:e>
                          <m:r>
                            <a:rPr lang="en-US" altLang="zh-CN" sz="1800" i="1" kern="100">
                              <a:solidFill>
                                <a:srgbClr val="000000"/>
                              </a:solidFill>
                              <a:effectLst/>
                              <a:latin typeface="Cambria Math" panose="02040503050406030204" pitchFamily="18" charset="0"/>
                              <a:ea typeface="宋体" panose="02010600030101010101" pitchFamily="2" charset="-122"/>
                            </a:rPr>
                            <m:t>𝐴</m:t>
                          </m:r>
                        </m:e>
                        <m:sup>
                          <m:r>
                            <a:rPr lang="en-US" altLang="zh-CN" sz="1800" i="1" kern="100">
                              <a:solidFill>
                                <a:srgbClr val="000000"/>
                              </a:solidFill>
                              <a:effectLst/>
                              <a:latin typeface="Cambria Math" panose="02040503050406030204" pitchFamily="18" charset="0"/>
                              <a:ea typeface="宋体" panose="02010600030101010101" pitchFamily="2" charset="-122"/>
                            </a:rPr>
                            <m:t>𝐻</m:t>
                          </m:r>
                        </m:sup>
                      </m:sSup>
                      <m:r>
                        <a:rPr lang="en-US" altLang="zh-CN" sz="1800" i="1" kern="100">
                          <a:solidFill>
                            <a:srgbClr val="000000"/>
                          </a:solidFill>
                          <a:effectLst/>
                          <a:latin typeface="Cambria Math" panose="02040503050406030204" pitchFamily="18" charset="0"/>
                          <a:ea typeface="宋体" panose="02010600030101010101" pitchFamily="2" charset="-122"/>
                        </a:rPr>
                        <m:t>+</m:t>
                      </m:r>
                      <m:sSub>
                        <m:sSubPr>
                          <m:ctrlPr>
                            <a:rPr lang="zh-CN" altLang="zh-CN" sz="1800" i="1" kern="100">
                              <a:solidFill>
                                <a:srgbClr val="000000"/>
                              </a:solidFill>
                              <a:effectLst/>
                              <a:latin typeface="Cambria Math" panose="02040503050406030204" pitchFamily="18" charset="0"/>
                              <a:ea typeface="Cambria Math" panose="02040503050406030204" pitchFamily="18" charset="0"/>
                            </a:rPr>
                          </m:ctrlPr>
                        </m:sSubPr>
                        <m:e>
                          <m:r>
                            <a:rPr lang="en-US" altLang="zh-CN" sz="1800" i="1" kern="100">
                              <a:solidFill>
                                <a:srgbClr val="000000"/>
                              </a:solidFill>
                              <a:effectLst/>
                              <a:latin typeface="Cambria Math" panose="02040503050406030204" pitchFamily="18" charset="0"/>
                              <a:ea typeface="宋体" panose="02010600030101010101" pitchFamily="2" charset="-122"/>
                            </a:rPr>
                            <m:t>𝑅</m:t>
                          </m:r>
                        </m:e>
                        <m:sub>
                          <m:r>
                            <a:rPr lang="en-US" altLang="zh-CN" sz="1800" i="1" kern="100">
                              <a:solidFill>
                                <a:srgbClr val="000000"/>
                              </a:solidFill>
                              <a:effectLst/>
                              <a:latin typeface="Cambria Math" panose="02040503050406030204" pitchFamily="18" charset="0"/>
                              <a:ea typeface="宋体" panose="02010600030101010101" pitchFamily="2" charset="-122"/>
                            </a:rPr>
                            <m:t>𝑧</m:t>
                          </m:r>
                        </m:sub>
                      </m:sSub>
                    </m:oMath>
                  </m:oMathPara>
                </a14:m>
                <a:endParaRPr lang="en-US" altLang="zh-CN" sz="1400" kern="100" dirty="0">
                  <a:effectLst/>
                  <a:latin typeface="Times New Roman" panose="02020603050405020304" pitchFamily="18" charset="0"/>
                  <a:ea typeface="宋体" panose="02010600030101010101" pitchFamily="2" charset="-122"/>
                </a:endParaRPr>
              </a:p>
              <a:p>
                <a:pPr algn="just">
                  <a:buNone/>
                </a:pPr>
                <a:endParaRPr lang="zh-CN" altLang="zh-CN" sz="1400" kern="100" dirty="0">
                  <a:effectLst/>
                  <a:latin typeface="Times New Roman" panose="02020603050405020304" pitchFamily="18" charset="0"/>
                  <a:ea typeface="宋体" panose="02010600030101010101" pitchFamily="2" charset="-122"/>
                </a:endParaRPr>
              </a:p>
              <a:p>
                <a:pPr algn="just">
                  <a:buNone/>
                </a:pPr>
                <a:r>
                  <a:rPr lang="zh-CN" altLang="zh-CN" sz="1800" kern="100" dirty="0">
                    <a:effectLst/>
                    <a:latin typeface="Times New Roman" panose="02020603050405020304" pitchFamily="18" charset="0"/>
                    <a:ea typeface="宋体" panose="02010600030101010101" pitchFamily="2" charset="-122"/>
                  </a:rPr>
                  <a:t>其中</a:t>
                </a:r>
                <a14:m>
                  <m:oMath xmlns:m="http://schemas.openxmlformats.org/officeDocument/2006/math">
                    <m:r>
                      <a:rPr lang="en-US" altLang="zh-CN" sz="1800" i="1" kern="100">
                        <a:solidFill>
                          <a:srgbClr val="000000"/>
                        </a:solidFill>
                        <a:effectLst/>
                        <a:latin typeface="Cambria Math" panose="02040503050406030204" pitchFamily="18" charset="0"/>
                        <a:ea typeface="宋体" panose="02010600030101010101" pitchFamily="2" charset="-122"/>
                      </a:rPr>
                      <m:t>𝑅</m:t>
                    </m:r>
                    <m:r>
                      <a:rPr lang="en-US" altLang="zh-CN" sz="1800" i="1" kern="100">
                        <a:solidFill>
                          <a:srgbClr val="000000"/>
                        </a:solidFill>
                        <a:effectLst/>
                        <a:latin typeface="Cambria Math" panose="02040503050406030204" pitchFamily="18" charset="0"/>
                        <a:ea typeface="宋体" panose="02010600030101010101" pitchFamily="2" charset="-122"/>
                      </a:rPr>
                      <m:t>=</m:t>
                    </m:r>
                    <m:r>
                      <a:rPr lang="en-US" altLang="zh-CN" sz="1800" i="1" kern="100">
                        <a:solidFill>
                          <a:srgbClr val="000000"/>
                        </a:solidFill>
                        <a:effectLst/>
                        <a:latin typeface="Cambria Math" panose="02040503050406030204" pitchFamily="18" charset="0"/>
                        <a:ea typeface="宋体" panose="02010600030101010101" pitchFamily="2" charset="-122"/>
                      </a:rPr>
                      <m:t>𝐸</m:t>
                    </m:r>
                    <m:d>
                      <m:dPr>
                        <m:begChr m:val="["/>
                        <m:endChr m:val="]"/>
                        <m:ctrlPr>
                          <a:rPr lang="zh-CN" altLang="zh-CN" sz="1800" i="1" kern="100">
                            <a:solidFill>
                              <a:srgbClr val="000000"/>
                            </a:solidFill>
                            <a:effectLst/>
                            <a:latin typeface="Cambria Math" panose="02040503050406030204" pitchFamily="18" charset="0"/>
                            <a:ea typeface="Cambria Math" panose="02040503050406030204" pitchFamily="18" charset="0"/>
                          </a:rPr>
                        </m:ctrlPr>
                      </m:dPr>
                      <m:e>
                        <m:r>
                          <a:rPr lang="en-US" altLang="zh-CN" sz="1800" i="1" kern="100">
                            <a:solidFill>
                              <a:srgbClr val="000000"/>
                            </a:solidFill>
                            <a:effectLst/>
                            <a:latin typeface="Cambria Math" panose="02040503050406030204" pitchFamily="18" charset="0"/>
                            <a:ea typeface="宋体" panose="02010600030101010101" pitchFamily="2" charset="-122"/>
                          </a:rPr>
                          <m:t>𝑦</m:t>
                        </m:r>
                        <m:d>
                          <m:dPr>
                            <m:ctrlPr>
                              <a:rPr lang="zh-CN" altLang="zh-CN" sz="1800" i="1" kern="100">
                                <a:solidFill>
                                  <a:srgbClr val="000000"/>
                                </a:solidFill>
                                <a:effectLst/>
                                <a:latin typeface="Cambria Math" panose="02040503050406030204" pitchFamily="18" charset="0"/>
                                <a:ea typeface="Cambria Math" panose="02040503050406030204" pitchFamily="18" charset="0"/>
                              </a:rPr>
                            </m:ctrlPr>
                          </m:dPr>
                          <m:e>
                            <m:r>
                              <a:rPr lang="en-US" altLang="zh-CN" sz="1800" i="1" kern="100">
                                <a:solidFill>
                                  <a:srgbClr val="000000"/>
                                </a:solidFill>
                                <a:effectLst/>
                                <a:latin typeface="Cambria Math" panose="02040503050406030204" pitchFamily="18" charset="0"/>
                                <a:ea typeface="宋体" panose="02010600030101010101" pitchFamily="2" charset="-122"/>
                              </a:rPr>
                              <m:t>𝑘</m:t>
                            </m:r>
                          </m:e>
                        </m:d>
                        <m:sSup>
                          <m:sSupPr>
                            <m:ctrlPr>
                              <a:rPr lang="zh-CN" altLang="zh-CN" sz="1800" i="1" kern="100">
                                <a:solidFill>
                                  <a:srgbClr val="000000"/>
                                </a:solidFill>
                                <a:effectLst/>
                                <a:latin typeface="Cambria Math" panose="02040503050406030204" pitchFamily="18" charset="0"/>
                                <a:ea typeface="Cambria Math" panose="02040503050406030204" pitchFamily="18" charset="0"/>
                              </a:rPr>
                            </m:ctrlPr>
                          </m:sSupPr>
                          <m:e>
                            <m:r>
                              <a:rPr lang="en-US" altLang="zh-CN" sz="1800" i="1" kern="100">
                                <a:solidFill>
                                  <a:srgbClr val="000000"/>
                                </a:solidFill>
                                <a:effectLst/>
                                <a:latin typeface="Cambria Math" panose="02040503050406030204" pitchFamily="18" charset="0"/>
                                <a:ea typeface="宋体" panose="02010600030101010101" pitchFamily="2" charset="-122"/>
                              </a:rPr>
                              <m:t>𝑦</m:t>
                            </m:r>
                          </m:e>
                          <m:sup>
                            <m:r>
                              <a:rPr lang="en-US" altLang="zh-CN" sz="1800" i="1" kern="100">
                                <a:solidFill>
                                  <a:srgbClr val="000000"/>
                                </a:solidFill>
                                <a:effectLst/>
                                <a:latin typeface="Cambria Math" panose="02040503050406030204" pitchFamily="18" charset="0"/>
                                <a:ea typeface="宋体" panose="02010600030101010101" pitchFamily="2" charset="-122"/>
                              </a:rPr>
                              <m:t>𝐻</m:t>
                            </m:r>
                          </m:sup>
                        </m:sSup>
                        <m:d>
                          <m:dPr>
                            <m:ctrlPr>
                              <a:rPr lang="zh-CN" altLang="zh-CN" sz="1800" i="1" kern="100">
                                <a:solidFill>
                                  <a:srgbClr val="000000"/>
                                </a:solidFill>
                                <a:effectLst/>
                                <a:latin typeface="Cambria Math" panose="02040503050406030204" pitchFamily="18" charset="0"/>
                                <a:ea typeface="Cambria Math" panose="02040503050406030204" pitchFamily="18" charset="0"/>
                              </a:rPr>
                            </m:ctrlPr>
                          </m:dPr>
                          <m:e>
                            <m:r>
                              <a:rPr lang="en-US" altLang="zh-CN" sz="1800" i="1" kern="100">
                                <a:solidFill>
                                  <a:srgbClr val="000000"/>
                                </a:solidFill>
                                <a:effectLst/>
                                <a:latin typeface="Cambria Math" panose="02040503050406030204" pitchFamily="18" charset="0"/>
                                <a:ea typeface="宋体" panose="02010600030101010101" pitchFamily="2" charset="-122"/>
                              </a:rPr>
                              <m:t>𝑘</m:t>
                            </m:r>
                          </m:e>
                        </m:d>
                      </m:e>
                    </m:d>
                  </m:oMath>
                </a14:m>
                <a:r>
                  <a:rPr lang="zh-CN" altLang="zh-CN" sz="1800" kern="100" dirty="0">
                    <a:effectLst/>
                    <a:latin typeface="Times New Roman" panose="02020603050405020304" pitchFamily="18" charset="0"/>
                    <a:ea typeface="宋体" panose="02010600030101010101" pitchFamily="2" charset="-122"/>
                  </a:rPr>
                  <a:t>为源信号协方差矩阵，</a:t>
                </a:r>
                <a14:m>
                  <m:oMath xmlns:m="http://schemas.openxmlformats.org/officeDocument/2006/math">
                    <m:sSub>
                      <m:sSubPr>
                        <m:ctrlPr>
                          <a:rPr lang="zh-CN" altLang="zh-CN" sz="1800" i="1" kern="100">
                            <a:solidFill>
                              <a:srgbClr val="000000"/>
                            </a:solidFill>
                            <a:effectLst/>
                            <a:latin typeface="Cambria Math" panose="02040503050406030204" pitchFamily="18" charset="0"/>
                            <a:ea typeface="Cambria Math" panose="02040503050406030204" pitchFamily="18" charset="0"/>
                          </a:rPr>
                        </m:ctrlPr>
                      </m:sSubPr>
                      <m:e>
                        <m:r>
                          <a:rPr lang="en-US" altLang="zh-CN" sz="1800" i="1" kern="100">
                            <a:solidFill>
                              <a:srgbClr val="000000"/>
                            </a:solidFill>
                            <a:effectLst/>
                            <a:latin typeface="Cambria Math" panose="02040503050406030204" pitchFamily="18" charset="0"/>
                            <a:ea typeface="宋体" panose="02010600030101010101" pitchFamily="2" charset="-122"/>
                          </a:rPr>
                          <m:t>𝑅</m:t>
                        </m:r>
                      </m:e>
                      <m:sub>
                        <m:r>
                          <a:rPr lang="en-US" altLang="zh-CN" sz="1800" i="1" kern="100">
                            <a:solidFill>
                              <a:srgbClr val="000000"/>
                            </a:solidFill>
                            <a:effectLst/>
                            <a:latin typeface="Cambria Math" panose="02040503050406030204" pitchFamily="18" charset="0"/>
                            <a:ea typeface="宋体" panose="02010600030101010101" pitchFamily="2" charset="-122"/>
                          </a:rPr>
                          <m:t>𝑧</m:t>
                        </m:r>
                      </m:sub>
                    </m:sSub>
                    <m:r>
                      <a:rPr lang="en-US" altLang="zh-CN" sz="1800" i="1" kern="100">
                        <a:solidFill>
                          <a:srgbClr val="000000"/>
                        </a:solidFill>
                        <a:effectLst/>
                        <a:latin typeface="Cambria Math" panose="02040503050406030204" pitchFamily="18" charset="0"/>
                        <a:ea typeface="宋体" panose="02010600030101010101" pitchFamily="2" charset="-122"/>
                      </a:rPr>
                      <m:t>=</m:t>
                    </m:r>
                    <m:r>
                      <a:rPr lang="en-US" altLang="zh-CN" sz="1800" i="1" kern="100">
                        <a:solidFill>
                          <a:srgbClr val="000000"/>
                        </a:solidFill>
                        <a:effectLst/>
                        <a:latin typeface="Cambria Math" panose="02040503050406030204" pitchFamily="18" charset="0"/>
                        <a:ea typeface="宋体" panose="02010600030101010101" pitchFamily="2" charset="-122"/>
                      </a:rPr>
                      <m:t>𝐸</m:t>
                    </m:r>
                    <m:d>
                      <m:dPr>
                        <m:begChr m:val="["/>
                        <m:endChr m:val="]"/>
                        <m:ctrlPr>
                          <a:rPr lang="zh-CN" altLang="zh-CN" sz="1800" i="1" kern="100">
                            <a:solidFill>
                              <a:srgbClr val="000000"/>
                            </a:solidFill>
                            <a:effectLst/>
                            <a:latin typeface="Cambria Math" panose="02040503050406030204" pitchFamily="18" charset="0"/>
                            <a:ea typeface="Cambria Math" panose="02040503050406030204" pitchFamily="18" charset="0"/>
                          </a:rPr>
                        </m:ctrlPr>
                      </m:dPr>
                      <m:e>
                        <m:r>
                          <a:rPr lang="en-US" altLang="zh-CN" sz="1800" i="1" kern="100">
                            <a:solidFill>
                              <a:srgbClr val="000000"/>
                            </a:solidFill>
                            <a:effectLst/>
                            <a:latin typeface="Cambria Math" panose="02040503050406030204" pitchFamily="18" charset="0"/>
                            <a:ea typeface="宋体" panose="02010600030101010101" pitchFamily="2" charset="-122"/>
                          </a:rPr>
                          <m:t>𝑧</m:t>
                        </m:r>
                        <m:d>
                          <m:dPr>
                            <m:ctrlPr>
                              <a:rPr lang="zh-CN" altLang="zh-CN" sz="1800" i="1" kern="100">
                                <a:solidFill>
                                  <a:srgbClr val="000000"/>
                                </a:solidFill>
                                <a:effectLst/>
                                <a:latin typeface="Cambria Math" panose="02040503050406030204" pitchFamily="18" charset="0"/>
                                <a:ea typeface="Cambria Math" panose="02040503050406030204" pitchFamily="18" charset="0"/>
                              </a:rPr>
                            </m:ctrlPr>
                          </m:dPr>
                          <m:e>
                            <m:r>
                              <a:rPr lang="en-US" altLang="zh-CN" sz="1800" i="1" kern="100">
                                <a:solidFill>
                                  <a:srgbClr val="000000"/>
                                </a:solidFill>
                                <a:effectLst/>
                                <a:latin typeface="Cambria Math" panose="02040503050406030204" pitchFamily="18" charset="0"/>
                                <a:ea typeface="宋体" panose="02010600030101010101" pitchFamily="2" charset="-122"/>
                              </a:rPr>
                              <m:t>𝑘</m:t>
                            </m:r>
                          </m:e>
                        </m:d>
                        <m:sSup>
                          <m:sSupPr>
                            <m:ctrlPr>
                              <a:rPr lang="zh-CN" altLang="zh-CN" sz="1800" i="1" kern="100">
                                <a:solidFill>
                                  <a:srgbClr val="000000"/>
                                </a:solidFill>
                                <a:effectLst/>
                                <a:latin typeface="Cambria Math" panose="02040503050406030204" pitchFamily="18" charset="0"/>
                                <a:ea typeface="Cambria Math" panose="02040503050406030204" pitchFamily="18" charset="0"/>
                              </a:rPr>
                            </m:ctrlPr>
                          </m:sSupPr>
                          <m:e>
                            <m:r>
                              <a:rPr lang="en-US" altLang="zh-CN" sz="1800" i="1" kern="100">
                                <a:solidFill>
                                  <a:srgbClr val="000000"/>
                                </a:solidFill>
                                <a:effectLst/>
                                <a:latin typeface="Cambria Math" panose="02040503050406030204" pitchFamily="18" charset="0"/>
                                <a:ea typeface="宋体" panose="02010600030101010101" pitchFamily="2" charset="-122"/>
                              </a:rPr>
                              <m:t>𝑧</m:t>
                            </m:r>
                          </m:e>
                          <m:sup>
                            <m:r>
                              <a:rPr lang="en-US" altLang="zh-CN" sz="1800" i="1" kern="100">
                                <a:solidFill>
                                  <a:srgbClr val="000000"/>
                                </a:solidFill>
                                <a:effectLst/>
                                <a:latin typeface="Cambria Math" panose="02040503050406030204" pitchFamily="18" charset="0"/>
                                <a:ea typeface="宋体" panose="02010600030101010101" pitchFamily="2" charset="-122"/>
                              </a:rPr>
                              <m:t>𝐻</m:t>
                            </m:r>
                          </m:sup>
                        </m:sSup>
                        <m:d>
                          <m:dPr>
                            <m:ctrlPr>
                              <a:rPr lang="zh-CN" altLang="zh-CN" sz="1800" i="1" kern="100">
                                <a:solidFill>
                                  <a:srgbClr val="000000"/>
                                </a:solidFill>
                                <a:effectLst/>
                                <a:latin typeface="Cambria Math" panose="02040503050406030204" pitchFamily="18" charset="0"/>
                                <a:ea typeface="Cambria Math" panose="02040503050406030204" pitchFamily="18" charset="0"/>
                              </a:rPr>
                            </m:ctrlPr>
                          </m:dPr>
                          <m:e>
                            <m:r>
                              <a:rPr lang="en-US" altLang="zh-CN" sz="1800" i="1" kern="100">
                                <a:solidFill>
                                  <a:srgbClr val="000000"/>
                                </a:solidFill>
                                <a:effectLst/>
                                <a:latin typeface="Cambria Math" panose="02040503050406030204" pitchFamily="18" charset="0"/>
                                <a:ea typeface="宋体" panose="02010600030101010101" pitchFamily="2" charset="-122"/>
                              </a:rPr>
                              <m:t>𝑘</m:t>
                            </m:r>
                          </m:e>
                        </m:d>
                      </m:e>
                    </m:d>
                  </m:oMath>
                </a14:m>
                <a:r>
                  <a:rPr lang="zh-CN" altLang="zh-CN" sz="1800" kern="100" dirty="0">
                    <a:effectLst/>
                    <a:latin typeface="Times New Roman" panose="02020603050405020304" pitchFamily="18" charset="0"/>
                    <a:ea typeface="宋体" panose="02010600030101010101" pitchFamily="2" charset="-122"/>
                  </a:rPr>
                  <a:t>为噪声协方差矩阵。</a:t>
                </a:r>
                <a:endParaRPr lang="zh-CN" altLang="zh-CN" sz="1400" kern="100" dirty="0">
                  <a:effectLst/>
                  <a:latin typeface="Times New Roman" panose="02020603050405020304" pitchFamily="18" charset="0"/>
                  <a:ea typeface="宋体" panose="02010600030101010101" pitchFamily="2" charset="-122"/>
                </a:endParaRPr>
              </a:p>
            </p:txBody>
          </p:sp>
        </mc:Choice>
        <mc:Fallback xmlns="">
          <p:sp>
            <p:nvSpPr>
              <p:cNvPr id="13" name="文本框 12">
                <a:extLst>
                  <a:ext uri="{FF2B5EF4-FFF2-40B4-BE49-F238E27FC236}">
                    <a16:creationId xmlns:a16="http://schemas.microsoft.com/office/drawing/2014/main" id="{FCEFB1DF-582C-FC4C-1091-481A7D57DF88}"/>
                  </a:ext>
                </a:extLst>
              </p:cNvPr>
              <p:cNvSpPr txBox="1">
                <a:spLocks noRot="1" noChangeAspect="1" noMove="1" noResize="1" noEditPoints="1" noAdjustHandles="1" noChangeArrowheads="1" noChangeShapeType="1" noTextEdit="1"/>
              </p:cNvSpPr>
              <p:nvPr/>
            </p:nvSpPr>
            <p:spPr>
              <a:xfrm>
                <a:off x="1319827" y="2168516"/>
                <a:ext cx="10114340" cy="1138773"/>
              </a:xfrm>
              <a:prstGeom prst="rect">
                <a:avLst/>
              </a:prstGeom>
              <a:blipFill>
                <a:blip r:embed="rId2"/>
                <a:stretch>
                  <a:fillRect l="-627" t="-4396" b="-6593"/>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0E5421D5-E791-A289-BEBF-2418B206F5B1}"/>
              </a:ext>
            </a:extLst>
          </p:cNvPr>
          <p:cNvSpPr txBox="1"/>
          <p:nvPr/>
        </p:nvSpPr>
        <p:spPr>
          <a:xfrm>
            <a:off x="1319827" y="4093155"/>
            <a:ext cx="10114340" cy="1477328"/>
          </a:xfrm>
          <a:prstGeom prst="rect">
            <a:avLst/>
          </a:prstGeom>
          <a:noFill/>
        </p:spPr>
        <p:txBody>
          <a:bodyPr wrap="square">
            <a:spAutoFit/>
          </a:bodyPr>
          <a:lstStyle/>
          <a:p>
            <a:r>
              <a:rPr lang="zh-CN" altLang="en-US" dirty="0"/>
              <a:t>针对近场条件下距离参数与角度参数耦合严重、原始协方差矩阵难以直接用于稳定学习的问题，本项目提出了虚拟协方差矩阵（</a:t>
            </a:r>
            <a:r>
              <a:rPr lang="en-US" altLang="zh-CN" dirty="0"/>
              <a:t>VCM</a:t>
            </a:r>
            <a:r>
              <a:rPr lang="zh-CN" altLang="en-US" dirty="0"/>
              <a:t>）重构方法。其核心思想是： </a:t>
            </a:r>
            <a:endParaRPr lang="en-US" altLang="zh-CN" dirty="0"/>
          </a:p>
          <a:p>
            <a:endParaRPr lang="zh-CN" altLang="en-US" b="1" dirty="0"/>
          </a:p>
          <a:p>
            <a:r>
              <a:rPr lang="zh-CN" altLang="en-US" b="1" i="1" dirty="0"/>
              <a:t>对近场协方差矩阵中满足对称关系的元素进行重新组合，从而构造一个更接近远场形式的协方差表示，使特征中保留更多与 </a:t>
            </a:r>
            <a:r>
              <a:rPr lang="en-US" altLang="zh-CN" b="1" i="1" dirty="0" err="1"/>
              <a:t>DoA</a:t>
            </a:r>
            <a:r>
              <a:rPr lang="en-US" altLang="zh-CN" b="1" i="1" dirty="0"/>
              <a:t> </a:t>
            </a:r>
            <a:r>
              <a:rPr lang="zh-CN" altLang="en-US" b="1" i="1" dirty="0"/>
              <a:t>相关的信息，同时尽量削弱距离参数的干扰。</a:t>
            </a:r>
          </a:p>
        </p:txBody>
      </p:sp>
    </p:spTree>
    <p:extLst>
      <p:ext uri="{BB962C8B-B14F-4D97-AF65-F5344CB8AC3E}">
        <p14:creationId xmlns:p14="http://schemas.microsoft.com/office/powerpoint/2010/main" val="1819235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E8F463-D4FD-6090-971B-669F91DBC087}"/>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11A1BEA-7673-0768-C9DE-58197ECA6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5E1E928E-C83F-EB93-CAE5-863D3CEA75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灯片编号占位符 3">
            <a:extLst>
              <a:ext uri="{FF2B5EF4-FFF2-40B4-BE49-F238E27FC236}">
                <a16:creationId xmlns:a16="http://schemas.microsoft.com/office/drawing/2014/main" id="{14043C92-17D7-3EAB-9EAF-410BF4F2EDFC}"/>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z="1100" smtClean="0"/>
              <a:pPr>
                <a:lnSpc>
                  <a:spcPct val="90000"/>
                </a:lnSpc>
                <a:spcAft>
                  <a:spcPts val="600"/>
                </a:spcAft>
              </a:pPr>
              <a:t>8</a:t>
            </a:fld>
            <a:endParaRPr lang="en-US" sz="1100"/>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948F75F-39A6-13E9-CBA4-9F6D66801C32}"/>
                  </a:ext>
                </a:extLst>
              </p:cNvPr>
              <p:cNvSpPr txBox="1"/>
              <p:nvPr/>
            </p:nvSpPr>
            <p:spPr>
              <a:xfrm>
                <a:off x="804671" y="1149756"/>
                <a:ext cx="6557023" cy="4417620"/>
              </a:xfrm>
              <a:prstGeom prst="rect">
                <a:avLst/>
              </a:prstGeom>
              <a:noFill/>
            </p:spPr>
            <p:txBody>
              <a:bodyPr wrap="square">
                <a:spAutoFit/>
              </a:bodyPr>
              <a:lstStyle/>
              <a:p>
                <a:r>
                  <a:rPr lang="zh-CN" altLang="en-US" dirty="0"/>
                  <a:t>虚拟协方差</a:t>
                </a:r>
                <a:r>
                  <a:rPr lang="zh-CN" altLang="zh-CN" dirty="0"/>
                  <a:t>重构步骤按照对称索引规则，对原始协方差矩阵中对应位置的元素进行组合平均，得到新的</a:t>
                </a:r>
                <a:r>
                  <a:rPr lang="en-US" altLang="zh-CN" dirty="0"/>
                  <a:t> VCM</a:t>
                </a:r>
                <a:r>
                  <a:rPr lang="zh-CN" altLang="zh-CN" dirty="0"/>
                  <a:t>：</a:t>
                </a:r>
                <a:endParaRPr lang="en-US" altLang="zh-CN" dirty="0"/>
              </a:p>
              <a:p>
                <a:endParaRPr lang="zh-CN" altLang="zh-CN" dirty="0"/>
              </a:p>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m:t>
                              </m:r>
                              <m:r>
                                <a:rPr lang="en-US" altLang="zh-CN" i="1">
                                  <a:latin typeface="Cambria Math" panose="02040503050406030204" pitchFamily="18" charset="0"/>
                                </a:rPr>
                                <m:t>𝑅</m:t>
                              </m:r>
                              <m:r>
                                <a:rPr lang="en-US" altLang="zh-CN" i="1">
                                  <a:latin typeface="Cambria Math" panose="02040503050406030204" pitchFamily="18" charset="0"/>
                                </a:rPr>
                                <m:t>]</m:t>
                              </m:r>
                            </m:e>
                          </m:acc>
                        </m:e>
                        <m:sub>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𝑡</m:t>
                          </m:r>
                        </m:sub>
                      </m:sSub>
                      <m:r>
                        <a:rPr lang="en-US" altLang="zh-CN" i="1">
                          <a:latin typeface="Cambria Math" panose="02040503050406030204" pitchFamily="18" charset="0"/>
                        </a:rPr>
                        <m:t>=</m:t>
                      </m:r>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𝑅</m:t>
                              </m:r>
                              <m:r>
                                <a:rPr lang="en-US" altLang="zh-CN" i="1">
                                  <a:latin typeface="Cambria Math" panose="02040503050406030204" pitchFamily="18" charset="0"/>
                                </a:rPr>
                                <m:t>]</m:t>
                              </m:r>
                            </m:e>
                            <m:sub>
                              <m:sSub>
                                <m:sSubPr>
                                  <m:ctrlPr>
                                    <a:rPr lang="zh-CN" altLang="zh-CN" i="1">
                                      <a:latin typeface="Cambria Math" panose="02040503050406030204" pitchFamily="18" charset="0"/>
                                    </a:rPr>
                                  </m:ctrlPr>
                                </m:sSubPr>
                                <m:e>
                                  <m:r>
                                    <a:rPr lang="en-US" altLang="zh-CN" i="1">
                                      <a:latin typeface="Cambria Math" panose="02040503050406030204" pitchFamily="18" charset="0"/>
                                    </a:rPr>
                                    <m:t>𝜒</m:t>
                                  </m:r>
                                </m:e>
                                <m:sub>
                                  <m:r>
                                    <a:rPr lang="en-US" altLang="zh-CN" i="1">
                                      <a:latin typeface="Cambria Math" panose="02040503050406030204" pitchFamily="18" charset="0"/>
                                    </a:rPr>
                                    <m:t>𝑙</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𝜒</m:t>
                                  </m:r>
                                </m:e>
                                <m:sub>
                                  <m:r>
                                    <a:rPr lang="en-US" altLang="zh-CN" i="1">
                                      <a:latin typeface="Cambria Math" panose="02040503050406030204" pitchFamily="18" charset="0"/>
                                    </a:rPr>
                                    <m:t>𝑙</m:t>
                                  </m:r>
                                </m:sub>
                              </m:sSub>
                              <m:d>
                                <m:dPr>
                                  <m:ctrlPr>
                                    <a:rPr lang="zh-CN" altLang="zh-CN" i="1">
                                      <a:latin typeface="Cambria Math" panose="02040503050406030204" pitchFamily="18" charset="0"/>
                                    </a:rPr>
                                  </m:ctrlPr>
                                </m:dPr>
                                <m:e>
                                  <m:r>
                                    <a:rPr lang="en-US" altLang="zh-CN" i="1">
                                      <a:latin typeface="Cambria Math" panose="02040503050406030204" pitchFamily="18" charset="0"/>
                                    </a:rPr>
                                    <m:t>−</m:t>
                                  </m:r>
                                  <m:r>
                                    <a:rPr lang="en-US" altLang="zh-CN" i="1">
                                      <a:latin typeface="Cambria Math" panose="02040503050406030204" pitchFamily="18" charset="0"/>
                                    </a:rPr>
                                    <m:t>𝑡</m:t>
                                  </m:r>
                                </m:e>
                              </m:d>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𝑅</m:t>
                              </m:r>
                              <m:r>
                                <a:rPr lang="en-US" altLang="zh-CN" i="1">
                                  <a:latin typeface="Cambria Math" panose="02040503050406030204" pitchFamily="18" charset="0"/>
                                </a:rPr>
                                <m:t>]</m:t>
                              </m:r>
                            </m:e>
                            <m:sub>
                              <m:sSub>
                                <m:sSubPr>
                                  <m:ctrlPr>
                                    <a:rPr lang="zh-CN" altLang="zh-CN" i="1">
                                      <a:latin typeface="Cambria Math" panose="02040503050406030204" pitchFamily="18" charset="0"/>
                                    </a:rPr>
                                  </m:ctrlPr>
                                </m:sSubPr>
                                <m:e>
                                  <m:r>
                                    <a:rPr lang="en-US" altLang="zh-CN" i="1">
                                      <a:latin typeface="Cambria Math" panose="02040503050406030204" pitchFamily="18" charset="0"/>
                                    </a:rPr>
                                    <m:t>𝜒</m:t>
                                  </m:r>
                                </m:e>
                                <m:sub>
                                  <m:r>
                                    <a:rPr lang="en-US" altLang="zh-CN" i="1">
                                      <a:latin typeface="Cambria Math" panose="02040503050406030204" pitchFamily="18" charset="0"/>
                                    </a:rPr>
                                    <m:t>𝑟</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𝜒</m:t>
                                  </m:r>
                                </m:e>
                                <m:sub>
                                  <m:r>
                                    <a:rPr lang="en-US" altLang="zh-CN" i="1">
                                      <a:latin typeface="Cambria Math" panose="02040503050406030204" pitchFamily="18" charset="0"/>
                                    </a:rPr>
                                    <m:t>𝑟</m:t>
                                  </m:r>
                                </m:sub>
                              </m:sSub>
                              <m:d>
                                <m:dPr>
                                  <m:ctrlPr>
                                    <a:rPr lang="zh-CN" altLang="zh-CN" i="1">
                                      <a:latin typeface="Cambria Math" panose="02040503050406030204" pitchFamily="18" charset="0"/>
                                    </a:rPr>
                                  </m:ctrlPr>
                                </m:dPr>
                                <m:e>
                                  <m:r>
                                    <a:rPr lang="en-US" altLang="zh-CN" i="1">
                                      <a:latin typeface="Cambria Math" panose="02040503050406030204" pitchFamily="18" charset="0"/>
                                    </a:rPr>
                                    <m:t>−</m:t>
                                  </m:r>
                                  <m:r>
                                    <a:rPr lang="en-US" altLang="zh-CN" i="1">
                                      <a:latin typeface="Cambria Math" panose="02040503050406030204" pitchFamily="18" charset="0"/>
                                    </a:rPr>
                                    <m:t>𝑡</m:t>
                                  </m:r>
                                </m:e>
                              </m:d>
                            </m:sub>
                          </m:sSub>
                        </m:num>
                        <m:den>
                          <m:r>
                            <a:rPr lang="en-US" altLang="zh-CN" i="1">
                              <a:latin typeface="Cambria Math" panose="02040503050406030204" pitchFamily="18" charset="0"/>
                            </a:rPr>
                            <m:t>2</m:t>
                          </m:r>
                        </m:den>
                      </m:f>
                    </m:oMath>
                  </m:oMathPara>
                </a14:m>
                <a:endParaRPr lang="en-US" altLang="zh-CN" dirty="0"/>
              </a:p>
              <a:p>
                <a:endParaRPr lang="en-US" altLang="zh-CN" dirty="0"/>
              </a:p>
              <a:p>
                <a:endParaRPr lang="zh-CN" altLang="zh-CN" dirty="0"/>
              </a:p>
              <a:p>
                <a:r>
                  <a:rPr lang="zh-CN" altLang="zh-CN" dirty="0"/>
                  <a:t>得到重构后的</a:t>
                </a:r>
                <a:r>
                  <a:rPr lang="en-US" altLang="zh-CN" dirty="0"/>
                  <a:t> VCM </a:t>
                </a:r>
                <a:r>
                  <a:rPr lang="zh-CN" altLang="zh-CN" dirty="0"/>
                  <a:t>后，还需要进一步执行中心裁剪</a:t>
                </a:r>
                <a:r>
                  <a:rPr lang="zh-CN" altLang="en-US" dirty="0"/>
                  <a:t>：</a:t>
                </a:r>
                <a:endParaRPr lang="en-US" altLang="zh-CN" dirty="0"/>
              </a:p>
              <a:p>
                <a:endParaRPr lang="zh-CN" altLang="zh-CN" dirty="0"/>
              </a:p>
              <a:p>
                <a:pPr/>
                <a14:m>
                  <m:oMathPara xmlns:m="http://schemas.openxmlformats.org/officeDocument/2006/math">
                    <m:oMathParaPr>
                      <m:jc m:val="centerGroup"/>
                    </m:oMathParaPr>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𝑅</m:t>
                          </m:r>
                        </m:e>
                      </m:acc>
                      <m:r>
                        <a:rPr lang="en-US" altLang="zh-CN" i="1">
                          <a:latin typeface="Cambria Math" panose="02040503050406030204" pitchFamily="18" charset="0"/>
                        </a:rPr>
                        <m:t>=</m:t>
                      </m:r>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𝑅</m:t>
                          </m:r>
                        </m:e>
                      </m:acc>
                      <m:d>
                        <m:dPr>
                          <m:begChr m:val="["/>
                          <m:endChr m:val="]"/>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𝑁</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𝑖𝑛</m:t>
                                  </m:r>
                                </m:sub>
                              </m:sSub>
                            </m:num>
                            <m:den>
                              <m:r>
                                <a:rPr lang="en-US" altLang="zh-CN" i="1">
                                  <a:latin typeface="Cambria Math" panose="02040503050406030204" pitchFamily="18" charset="0"/>
                                </a:rPr>
                                <m:t>2</m:t>
                              </m:r>
                            </m:den>
                          </m:f>
                          <m:r>
                            <a:rPr lang="en-US" altLang="zh-CN" i="1">
                              <a:latin typeface="Cambria Math" panose="02040503050406030204" pitchFamily="18" charset="0"/>
                            </a:rPr>
                            <m:t>+1:</m:t>
                          </m:r>
                          <m:r>
                            <a:rPr lang="en-US" altLang="zh-CN" i="1">
                              <a:latin typeface="Cambria Math" panose="02040503050406030204" pitchFamily="18" charset="0"/>
                            </a:rPr>
                            <m:t>𝑁</m:t>
                          </m:r>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𝑁</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𝑖𝑛</m:t>
                                  </m:r>
                                </m:sub>
                              </m:sSub>
                            </m:num>
                            <m:den>
                              <m:r>
                                <a:rPr lang="en-US" altLang="zh-CN" i="1">
                                  <a:latin typeface="Cambria Math" panose="02040503050406030204" pitchFamily="18" charset="0"/>
                                </a:rPr>
                                <m:t>2</m:t>
                              </m:r>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𝑁</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𝑖𝑛</m:t>
                                  </m:r>
                                </m:sub>
                              </m:sSub>
                            </m:num>
                            <m:den>
                              <m:r>
                                <a:rPr lang="en-US" altLang="zh-CN" i="1">
                                  <a:latin typeface="Cambria Math" panose="02040503050406030204" pitchFamily="18" charset="0"/>
                                </a:rPr>
                                <m:t>2</m:t>
                              </m:r>
                            </m:den>
                          </m:f>
                          <m:r>
                            <a:rPr lang="en-US" altLang="zh-CN" i="1">
                              <a:latin typeface="Cambria Math" panose="02040503050406030204" pitchFamily="18" charset="0"/>
                            </a:rPr>
                            <m:t>+1:</m:t>
                          </m:r>
                          <m:r>
                            <a:rPr lang="en-US" altLang="zh-CN" i="1">
                              <a:latin typeface="Cambria Math" panose="02040503050406030204" pitchFamily="18" charset="0"/>
                            </a:rPr>
                            <m:t>𝑁</m:t>
                          </m:r>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𝑁</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𝑖𝑛</m:t>
                                  </m:r>
                                </m:sub>
                              </m:sSub>
                            </m:num>
                            <m:den>
                              <m:r>
                                <a:rPr lang="en-US" altLang="zh-CN" i="1">
                                  <a:latin typeface="Cambria Math" panose="02040503050406030204" pitchFamily="18" charset="0"/>
                                </a:rPr>
                                <m:t>2</m:t>
                              </m:r>
                            </m:den>
                          </m:f>
                        </m:e>
                      </m:d>
                    </m:oMath>
                  </m:oMathPara>
                </a14:m>
                <a:endParaRPr lang="en-US" altLang="zh-CN" dirty="0"/>
              </a:p>
              <a:p>
                <a:endParaRPr lang="en-US" altLang="zh-CN" dirty="0"/>
              </a:p>
              <a:p>
                <a:endParaRPr lang="zh-CN" altLang="zh-CN" dirty="0"/>
              </a:p>
              <a:p>
                <a:r>
                  <a:rPr lang="zh-CN" altLang="zh-CN" dirty="0"/>
                  <a:t>这样处理后，不同天线规模下的数据都可以转换为统一格式，避免了因输入维度变化而反复调整网络结构。</a:t>
                </a:r>
              </a:p>
              <a:p>
                <a:pPr algn="just">
                  <a:buNone/>
                </a:pPr>
                <a:endParaRPr lang="zh-CN" altLang="zh-CN" sz="1400" kern="100" dirty="0">
                  <a:effectLst/>
                  <a:latin typeface="Times New Roman" panose="02020603050405020304" pitchFamily="18" charset="0"/>
                  <a:ea typeface="宋体" panose="02010600030101010101" pitchFamily="2" charset="-122"/>
                </a:endParaRPr>
              </a:p>
            </p:txBody>
          </p:sp>
        </mc:Choice>
        <mc:Fallback xmlns="">
          <p:sp>
            <p:nvSpPr>
              <p:cNvPr id="13" name="文本框 12">
                <a:extLst>
                  <a:ext uri="{FF2B5EF4-FFF2-40B4-BE49-F238E27FC236}">
                    <a16:creationId xmlns:a16="http://schemas.microsoft.com/office/drawing/2014/main" id="{2948F75F-39A6-13E9-CBA4-9F6D66801C32}"/>
                  </a:ext>
                </a:extLst>
              </p:cNvPr>
              <p:cNvSpPr txBox="1">
                <a:spLocks noRot="1" noChangeAspect="1" noMove="1" noResize="1" noEditPoints="1" noAdjustHandles="1" noChangeArrowheads="1" noChangeShapeType="1" noTextEdit="1"/>
              </p:cNvSpPr>
              <p:nvPr/>
            </p:nvSpPr>
            <p:spPr>
              <a:xfrm>
                <a:off x="804671" y="1149756"/>
                <a:ext cx="6557023" cy="4417620"/>
              </a:xfrm>
              <a:prstGeom prst="rect">
                <a:avLst/>
              </a:prstGeom>
              <a:blipFill>
                <a:blip r:embed="rId2"/>
                <a:stretch>
                  <a:fillRect l="-774" t="-573"/>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B3FA162D-A16A-39BD-F70E-30E4F13E81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1694" y="1625502"/>
            <a:ext cx="4463513" cy="3768823"/>
          </a:xfrm>
          <a:prstGeom prst="rect">
            <a:avLst/>
          </a:prstGeom>
        </p:spPr>
      </p:pic>
    </p:spTree>
    <p:extLst>
      <p:ext uri="{BB962C8B-B14F-4D97-AF65-F5344CB8AC3E}">
        <p14:creationId xmlns:p14="http://schemas.microsoft.com/office/powerpoint/2010/main" val="4045011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641620-B670-3CDA-E7A8-E7DF696531CD}"/>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437D63F-16F9-1FD7-349B-D148629ED4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52EDB27D-4EC3-A2F2-94AB-6E66EE3D1C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灯片编号占位符 3">
            <a:extLst>
              <a:ext uri="{FF2B5EF4-FFF2-40B4-BE49-F238E27FC236}">
                <a16:creationId xmlns:a16="http://schemas.microsoft.com/office/drawing/2014/main" id="{6C81318F-9AA0-13AD-993E-19BA672C4D63}"/>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z="1100" smtClean="0"/>
              <a:pPr>
                <a:lnSpc>
                  <a:spcPct val="90000"/>
                </a:lnSpc>
                <a:spcAft>
                  <a:spcPts val="600"/>
                </a:spcAft>
              </a:pPr>
              <a:t>9</a:t>
            </a:fld>
            <a:endParaRPr lang="en-US" sz="1100"/>
          </a:p>
        </p:txBody>
      </p:sp>
      <p:sp>
        <p:nvSpPr>
          <p:cNvPr id="3" name="文本框 2">
            <a:extLst>
              <a:ext uri="{FF2B5EF4-FFF2-40B4-BE49-F238E27FC236}">
                <a16:creationId xmlns:a16="http://schemas.microsoft.com/office/drawing/2014/main" id="{0F5EA76D-7386-6DBD-02DE-C38D2E801356}"/>
              </a:ext>
            </a:extLst>
          </p:cNvPr>
          <p:cNvSpPr txBox="1"/>
          <p:nvPr/>
        </p:nvSpPr>
        <p:spPr>
          <a:xfrm>
            <a:off x="1068903" y="1479161"/>
            <a:ext cx="4749638" cy="2031325"/>
          </a:xfrm>
          <a:prstGeom prst="rect">
            <a:avLst/>
          </a:prstGeom>
          <a:noFill/>
        </p:spPr>
        <p:txBody>
          <a:bodyPr wrap="square">
            <a:spAutoFit/>
          </a:bodyPr>
          <a:lstStyle/>
          <a:p>
            <a:endParaRPr lang="en-US" altLang="zh-CN" dirty="0"/>
          </a:p>
          <a:p>
            <a:endParaRPr lang="zh-CN" altLang="zh-CN" dirty="0"/>
          </a:p>
          <a:p>
            <a:r>
              <a:rPr lang="zh-CN" altLang="zh-CN" dirty="0"/>
              <a:t>重构完成后，对虚拟协方差矩阵进行奇异值分解，可得其信号子空间与噪声子空间表示。其中信号子空间对应的特征向量能够较好地表征阵列接收信号中的主要方向信息。 </a:t>
            </a:r>
            <a:endParaRPr kumimoji="1" lang="zh-CN" altLang="en-US" dirty="0"/>
          </a:p>
          <a:p>
            <a:r>
              <a:rPr lang="zh-CN" altLang="zh-CN" dirty="0">
                <a:effectLst/>
              </a:rPr>
              <a:t> </a:t>
            </a:r>
            <a:endParaRPr lang="zh-CN" altLang="zh-CN" sz="1400" kern="100" dirty="0">
              <a:effectLst/>
              <a:latin typeface="Times New Roman" panose="02020603050405020304" pitchFamily="18" charset="0"/>
              <a:ea typeface="宋体" panose="02010600030101010101" pitchFamily="2" charset="-122"/>
            </a:endParaRPr>
          </a:p>
        </p:txBody>
      </p:sp>
      <p:sp>
        <p:nvSpPr>
          <p:cNvPr id="8" name="文本框 7">
            <a:extLst>
              <a:ext uri="{FF2B5EF4-FFF2-40B4-BE49-F238E27FC236}">
                <a16:creationId xmlns:a16="http://schemas.microsoft.com/office/drawing/2014/main" id="{2C7E5646-7509-23C9-FC17-167952EAA620}"/>
              </a:ext>
            </a:extLst>
          </p:cNvPr>
          <p:cNvSpPr txBox="1"/>
          <p:nvPr/>
        </p:nvSpPr>
        <p:spPr>
          <a:xfrm>
            <a:off x="711199" y="5433020"/>
            <a:ext cx="10809014" cy="923330"/>
          </a:xfrm>
          <a:prstGeom prst="rect">
            <a:avLst/>
          </a:prstGeom>
          <a:noFill/>
        </p:spPr>
        <p:txBody>
          <a:bodyPr wrap="square" rtlCol="0">
            <a:spAutoFit/>
          </a:bodyPr>
          <a:lstStyle/>
          <a:p>
            <a:r>
              <a:rPr lang="zh-CN" altLang="zh-CN" b="1" i="1" dirty="0"/>
              <a:t>相比直接使用原始协方差矩阵，信号子空间特征维度更低、结构更紧凑，也更适合作为后续深度网络的输入。这样既能够减少冗余信息，又能提高网络对关键相位特征的学习效率。</a:t>
            </a:r>
          </a:p>
          <a:p>
            <a:endParaRPr kumimoji="1" lang="zh-CN" altLang="en-US" dirty="0"/>
          </a:p>
        </p:txBody>
      </p:sp>
      <p:pic>
        <p:nvPicPr>
          <p:cNvPr id="7170" name="Picture 2" descr="奇异值分解（SVD）_svd分解时间和空间-CSDN博客">
            <a:extLst>
              <a:ext uri="{FF2B5EF4-FFF2-40B4-BE49-F238E27FC236}">
                <a16:creationId xmlns:a16="http://schemas.microsoft.com/office/drawing/2014/main" id="{1E313E49-3036-442A-EBD4-CFC815F208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3460" y="1444754"/>
            <a:ext cx="5526691" cy="3204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41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121184BC-179E-B565-5B44-104F4C9E1D2E}"/>
              </a:ext>
            </a:extLst>
          </p:cNvPr>
          <p:cNvSpPr>
            <a:spLocks noGrp="1"/>
          </p:cNvSpPr>
          <p:nvPr>
            <p:ph type="title"/>
          </p:nvPr>
        </p:nvSpPr>
        <p:spPr>
          <a:xfrm>
            <a:off x="704088" y="914400"/>
            <a:ext cx="5041392" cy="1473200"/>
          </a:xfrm>
        </p:spPr>
        <p:txBody>
          <a:bodyPr>
            <a:normAutofit/>
          </a:bodyPr>
          <a:lstStyle/>
          <a:p>
            <a:r>
              <a:rPr kumimoji="1" lang="zh-CN" altLang="en-US" dirty="0"/>
              <a:t>模型训练与预测</a:t>
            </a:r>
          </a:p>
        </p:txBody>
      </p:sp>
      <p:cxnSp>
        <p:nvCxnSpPr>
          <p:cNvPr id="17"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DBB0519-01D4-0FC9-9511-2C805D47DA28}"/>
                  </a:ext>
                </a:extLst>
              </p:cNvPr>
              <p:cNvSpPr>
                <a:spLocks noGrp="1"/>
              </p:cNvSpPr>
              <p:nvPr>
                <p:ph idx="1"/>
              </p:nvPr>
            </p:nvSpPr>
            <p:spPr>
              <a:xfrm>
                <a:off x="704088" y="2387600"/>
                <a:ext cx="3799763" cy="3767328"/>
              </a:xfrm>
            </p:spPr>
            <p:txBody>
              <a:bodyPr>
                <a:normAutofit/>
              </a:bodyPr>
              <a:lstStyle/>
              <a:p>
                <a:pPr marL="0" indent="0">
                  <a:lnSpc>
                    <a:spcPct val="110000"/>
                  </a:lnSpc>
                  <a:buNone/>
                </a:pPr>
                <a:r>
                  <a:rPr lang="zh-CN" altLang="zh-CN" sz="1900"/>
                  <a:t>在完成输入特征构造之后，本项目进入模型训练与预测阶段。根据论文中的整体流程，裁剪后的</a:t>
                </a:r>
                <a:r>
                  <a:rPr lang="en-US" altLang="zh-CN" sz="1900"/>
                  <a:t> VCM </a:t>
                </a:r>
                <a:r>
                  <a:rPr lang="zh-CN" altLang="zh-CN" sz="1900"/>
                  <a:t>经子空间提取得到复数向量样本后，被送入所设计的复杂值神经网络，通过前向传播输出</a:t>
                </a:r>
                <a:r>
                  <a:rPr lang="en-US" altLang="zh-CN" sz="1900"/>
                  <a:t> </a:t>
                </a:r>
                <a:r>
                  <a:rPr lang="en-US" altLang="zh-CN" sz="1900" err="1"/>
                  <a:t>DoA</a:t>
                </a:r>
                <a:r>
                  <a:rPr lang="en-US" altLang="zh-CN" sz="1900"/>
                  <a:t> </a:t>
                </a:r>
                <a:r>
                  <a:rPr lang="zh-CN" altLang="zh-CN" sz="1900"/>
                  <a:t>估计结果。算法流程中将该步骤概括为：将输入特征</a:t>
                </a:r>
                <a14:m>
                  <m:oMath xmlns:m="http://schemas.openxmlformats.org/officeDocument/2006/math">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𝑐</m:t>
                        </m:r>
                      </m:e>
                      <m:sub>
                        <m:r>
                          <a:rPr lang="en-US" altLang="zh-CN" sz="1900" i="1">
                            <a:latin typeface="Cambria Math" panose="02040503050406030204" pitchFamily="18" charset="0"/>
                          </a:rPr>
                          <m:t>𝑖𝑛𝑝𝑢𝑡</m:t>
                        </m:r>
                      </m:sub>
                    </m:sSub>
                  </m:oMath>
                </a14:m>
                <a:r>
                  <a:rPr lang="zh-CN" altLang="zh-CN" sz="1900"/>
                  <a:t>输入</a:t>
                </a:r>
                <a:r>
                  <a:rPr lang="en-US" altLang="zh-CN" sz="1900"/>
                  <a:t> CVNN</a:t>
                </a:r>
                <a:r>
                  <a:rPr lang="zh-CN" altLang="zh-CN" sz="1900"/>
                  <a:t>，经过网络前向传播后得到预测角度</a:t>
                </a:r>
                <a14:m>
                  <m:oMath xmlns:m="http://schemas.openxmlformats.org/officeDocument/2006/math">
                    <m:acc>
                      <m:accPr>
                        <m:chr m:val="̂"/>
                        <m:ctrlPr>
                          <a:rPr lang="zh-CN" altLang="zh-CN" sz="1900" i="1">
                            <a:latin typeface="Cambria Math" panose="02040503050406030204" pitchFamily="18" charset="0"/>
                          </a:rPr>
                        </m:ctrlPr>
                      </m:accPr>
                      <m:e>
                        <m:r>
                          <a:rPr lang="en-US" altLang="zh-CN" sz="1900" i="1">
                            <a:latin typeface="Cambria Math" panose="02040503050406030204" pitchFamily="18" charset="0"/>
                          </a:rPr>
                          <m:t>𝜃</m:t>
                        </m:r>
                      </m:e>
                    </m:acc>
                    <m:r>
                      <a:rPr lang="zh-CN" altLang="zh-CN" sz="1900" i="1">
                        <a:latin typeface="Cambria Math" panose="02040503050406030204" pitchFamily="18" charset="0"/>
                      </a:rPr>
                      <m:t>。</m:t>
                    </m:r>
                  </m:oMath>
                </a14:m>
                <a:endParaRPr lang="zh-CN" altLang="zh-CN" sz="1900"/>
              </a:p>
              <a:p>
                <a:pPr marL="0" indent="0">
                  <a:lnSpc>
                    <a:spcPct val="110000"/>
                  </a:lnSpc>
                  <a:buNone/>
                </a:pPr>
                <a:endParaRPr kumimoji="1" lang="zh-CN" altLang="en-US" sz="1900"/>
              </a:p>
            </p:txBody>
          </p:sp>
        </mc:Choice>
        <mc:Fallback xmlns="">
          <p:sp>
            <p:nvSpPr>
              <p:cNvPr id="3" name="内容占位符 2">
                <a:extLst>
                  <a:ext uri="{FF2B5EF4-FFF2-40B4-BE49-F238E27FC236}">
                    <a16:creationId xmlns:a16="http://schemas.microsoft.com/office/drawing/2014/main" id="{6DBB0519-01D4-0FC9-9511-2C805D47DA28}"/>
                  </a:ext>
                </a:extLst>
              </p:cNvPr>
              <p:cNvSpPr>
                <a:spLocks noGrp="1" noRot="1" noChangeAspect="1" noMove="1" noResize="1" noEditPoints="1" noAdjustHandles="1" noChangeArrowheads="1" noChangeShapeType="1" noTextEdit="1"/>
              </p:cNvSpPr>
              <p:nvPr>
                <p:ph idx="1"/>
              </p:nvPr>
            </p:nvSpPr>
            <p:spPr>
              <a:xfrm>
                <a:off x="704088" y="2387600"/>
                <a:ext cx="3799763" cy="3767328"/>
              </a:xfrm>
              <a:blipFill>
                <a:blip r:embed="rId2"/>
                <a:stretch>
                  <a:fillRect l="-1000" r="-3333" b="-337"/>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5330E22B-C74E-7078-61A4-6F180158CBBD}"/>
              </a:ext>
            </a:extLst>
          </p:cNvPr>
          <p:cNvPicPr>
            <a:picLocks noChangeAspect="1"/>
          </p:cNvPicPr>
          <p:nvPr/>
        </p:nvPicPr>
        <p:blipFill>
          <a:blip r:embed="rId3">
            <a:extLst>
              <a:ext uri="{28A0092B-C50C-407E-A947-70E740481C1C}">
                <a14:useLocalDpi xmlns:a14="http://schemas.microsoft.com/office/drawing/2010/main" val="0"/>
              </a:ext>
            </a:extLst>
          </a:blip>
          <a:srcRect r="2" b="369"/>
          <a:stretch>
            <a:fillRect/>
          </a:stretch>
        </p:blipFill>
        <p:spPr>
          <a:xfrm>
            <a:off x="4981575" y="735286"/>
            <a:ext cx="6495042" cy="5419642"/>
          </a:xfrm>
          <a:prstGeom prst="rect">
            <a:avLst/>
          </a:prstGeom>
        </p:spPr>
      </p:pic>
      <p:sp>
        <p:nvSpPr>
          <p:cNvPr id="4" name="灯片编号占位符 3">
            <a:extLst>
              <a:ext uri="{FF2B5EF4-FFF2-40B4-BE49-F238E27FC236}">
                <a16:creationId xmlns:a16="http://schemas.microsoft.com/office/drawing/2014/main" id="{DB4B5444-8C39-C712-3C02-5B2025A5A456}"/>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z="1100" smtClean="0"/>
              <a:pPr>
                <a:lnSpc>
                  <a:spcPct val="90000"/>
                </a:lnSpc>
                <a:spcAft>
                  <a:spcPts val="600"/>
                </a:spcAft>
              </a:pPr>
              <a:t>10</a:t>
            </a:fld>
            <a:endParaRPr lang="en-US" sz="1100"/>
          </a:p>
        </p:txBody>
      </p:sp>
    </p:spTree>
    <p:extLst>
      <p:ext uri="{BB962C8B-B14F-4D97-AF65-F5344CB8AC3E}">
        <p14:creationId xmlns:p14="http://schemas.microsoft.com/office/powerpoint/2010/main" val="2030264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文本框 6">
            <a:extLst>
              <a:ext uri="{FF2B5EF4-FFF2-40B4-BE49-F238E27FC236}">
                <a16:creationId xmlns:a16="http://schemas.microsoft.com/office/drawing/2014/main" id="{81FC9ABD-FC79-F342-0E2A-7A7536B028E8}"/>
              </a:ext>
            </a:extLst>
          </p:cNvPr>
          <p:cNvSpPr txBox="1"/>
          <p:nvPr/>
        </p:nvSpPr>
        <p:spPr>
          <a:xfrm>
            <a:off x="704088" y="914400"/>
            <a:ext cx="3799763" cy="1473200"/>
          </a:xfrm>
          <a:prstGeom prst="rect">
            <a:avLst/>
          </a:prstGeom>
        </p:spPr>
        <p:txBody>
          <a:bodyPr vert="horz" lIns="91440" tIns="45720" rIns="91440" bIns="45720" rtlCol="0" anchor="t">
            <a:normAutofit/>
          </a:bodyPr>
          <a:lstStyle/>
          <a:p>
            <a:pPr>
              <a:spcBef>
                <a:spcPct val="0"/>
              </a:spcBef>
              <a:spcAft>
                <a:spcPts val="600"/>
              </a:spcAft>
            </a:pPr>
            <a:r>
              <a:rPr kumimoji="1" lang="zh-CN" altLang="en-US" sz="4000" b="1" cap="all" spc="30" dirty="0">
                <a:latin typeface="+mj-lt"/>
                <a:ea typeface="+mj-ea"/>
                <a:cs typeface="+mj-cs"/>
              </a:rPr>
              <a:t>仿真结果分析</a:t>
            </a:r>
            <a:endParaRPr lang="en-US" altLang="zh-CN" sz="4000" b="1" cap="all" spc="30" dirty="0">
              <a:latin typeface="+mj-lt"/>
              <a:ea typeface="+mj-ea"/>
              <a:cs typeface="+mj-cs"/>
            </a:endParaRPr>
          </a:p>
        </p:txBody>
      </p:sp>
      <p:cxnSp>
        <p:nvCxnSpPr>
          <p:cNvPr id="21"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ECF77A00-F6B1-DDC4-2FAE-0925A047CE95}"/>
              </a:ext>
            </a:extLst>
          </p:cNvPr>
          <p:cNvSpPr txBox="1"/>
          <p:nvPr/>
        </p:nvSpPr>
        <p:spPr>
          <a:xfrm>
            <a:off x="727313" y="2387600"/>
            <a:ext cx="3247981" cy="3767328"/>
          </a:xfrm>
          <a:prstGeom prst="rect">
            <a:avLst/>
          </a:prstGeom>
        </p:spPr>
        <p:txBody>
          <a:bodyPr vert="horz" lIns="91440" tIns="45720" rIns="91440" bIns="45720" rtlCol="0">
            <a:normAutofit/>
          </a:bodyPr>
          <a:lstStyle/>
          <a:p>
            <a:pPr>
              <a:lnSpc>
                <a:spcPct val="110000"/>
              </a:lnSpc>
              <a:spcAft>
                <a:spcPts val="600"/>
              </a:spcAft>
            </a:pPr>
            <a:r>
              <a:rPr lang="zh-CN" altLang="en-US" dirty="0"/>
              <a:t>可以明显看出，在四组快拍数中，随着信噪比从低值逐渐升高，</a:t>
            </a:r>
            <a:r>
              <a:rPr lang="en-US" altLang="zh-CN" dirty="0"/>
              <a:t>RMSE </a:t>
            </a:r>
            <a:r>
              <a:rPr lang="zh-CN" altLang="en-US" dirty="0"/>
              <a:t>整体呈下降趋势。这说明噪声对近场</a:t>
            </a:r>
            <a:r>
              <a:rPr lang="en-US" altLang="zh-CN" dirty="0"/>
              <a:t> </a:t>
            </a:r>
            <a:r>
              <a:rPr lang="en-US" altLang="zh-CN" dirty="0" err="1"/>
              <a:t>DoA</a:t>
            </a:r>
            <a:r>
              <a:rPr lang="en-US" altLang="zh-CN" dirty="0"/>
              <a:t> </a:t>
            </a:r>
            <a:r>
              <a:rPr lang="zh-CN" altLang="en-US" dirty="0"/>
              <a:t>估计的影响在低</a:t>
            </a:r>
            <a:r>
              <a:rPr lang="en-US" altLang="zh-CN" dirty="0"/>
              <a:t> SNR </a:t>
            </a:r>
            <a:r>
              <a:rPr lang="zh-CN" altLang="en-US" dirty="0"/>
              <a:t>区域更为显著，而当</a:t>
            </a:r>
            <a:r>
              <a:rPr lang="en-US" altLang="zh-CN" dirty="0"/>
              <a:t> SNR </a:t>
            </a:r>
            <a:r>
              <a:rPr lang="zh-CN" altLang="en-US" dirty="0"/>
              <a:t>提高后，阵列接收信号中的有效方向信息更容易被提取出来，从而使模型获得更高的估计精度。</a:t>
            </a:r>
            <a:endParaRPr kumimoji="1" lang="en-US" altLang="zh-CN" dirty="0"/>
          </a:p>
        </p:txBody>
      </p:sp>
      <p:pic>
        <p:nvPicPr>
          <p:cNvPr id="9" name="图片 8">
            <a:extLst>
              <a:ext uri="{FF2B5EF4-FFF2-40B4-BE49-F238E27FC236}">
                <a16:creationId xmlns:a16="http://schemas.microsoft.com/office/drawing/2014/main" id="{981C613F-78A6-15EF-7111-2D0E0E6107F2}"/>
              </a:ext>
            </a:extLst>
          </p:cNvPr>
          <p:cNvPicPr>
            <a:picLocks noChangeAspect="1"/>
          </p:cNvPicPr>
          <p:nvPr/>
        </p:nvPicPr>
        <p:blipFill>
          <a:blip r:embed="rId2"/>
          <a:srcRect r="230" b="-1"/>
          <a:stretch>
            <a:fillRect/>
          </a:stretch>
        </p:blipFill>
        <p:spPr>
          <a:xfrm>
            <a:off x="4440630" y="757247"/>
            <a:ext cx="6495042" cy="5419642"/>
          </a:xfrm>
          <a:prstGeom prst="rect">
            <a:avLst/>
          </a:prstGeom>
        </p:spPr>
      </p:pic>
    </p:spTree>
    <p:extLst>
      <p:ext uri="{BB962C8B-B14F-4D97-AF65-F5344CB8AC3E}">
        <p14:creationId xmlns:p14="http://schemas.microsoft.com/office/powerpoint/2010/main" val="4169551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4B7DD6-F3A0-E0F6-1296-3A37E0CBEAB3}"/>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文本框 6">
            <a:extLst>
              <a:ext uri="{FF2B5EF4-FFF2-40B4-BE49-F238E27FC236}">
                <a16:creationId xmlns:a16="http://schemas.microsoft.com/office/drawing/2014/main" id="{2E9A15CB-76F3-D2E7-7530-242DC2E57746}"/>
              </a:ext>
            </a:extLst>
          </p:cNvPr>
          <p:cNvSpPr txBox="1"/>
          <p:nvPr/>
        </p:nvSpPr>
        <p:spPr>
          <a:xfrm>
            <a:off x="704088" y="914400"/>
            <a:ext cx="3799763" cy="1473200"/>
          </a:xfrm>
          <a:prstGeom prst="rect">
            <a:avLst/>
          </a:prstGeom>
        </p:spPr>
        <p:txBody>
          <a:bodyPr vert="horz" lIns="91440" tIns="45720" rIns="91440" bIns="45720" rtlCol="0" anchor="t">
            <a:normAutofit/>
          </a:bodyPr>
          <a:lstStyle/>
          <a:p>
            <a:pPr>
              <a:spcBef>
                <a:spcPct val="0"/>
              </a:spcBef>
              <a:spcAft>
                <a:spcPts val="600"/>
              </a:spcAft>
            </a:pPr>
            <a:r>
              <a:rPr kumimoji="1" lang="zh-CN" altLang="en-US" sz="4000" b="1" cap="all" spc="30" dirty="0">
                <a:latin typeface="+mj-lt"/>
                <a:ea typeface="+mj-ea"/>
                <a:cs typeface="+mj-cs"/>
              </a:rPr>
              <a:t>仿真结果分析</a:t>
            </a:r>
            <a:endParaRPr lang="en-US" altLang="zh-CN" sz="4000" b="1" cap="all" spc="30" dirty="0">
              <a:latin typeface="+mj-lt"/>
              <a:ea typeface="+mj-ea"/>
              <a:cs typeface="+mj-cs"/>
            </a:endParaRPr>
          </a:p>
        </p:txBody>
      </p:sp>
      <p:cxnSp>
        <p:nvCxnSpPr>
          <p:cNvPr id="28" name="Straight Connector 27">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12B84D3-2D4A-0E0A-5EB9-709356F2FB04}"/>
              </a:ext>
            </a:extLst>
          </p:cNvPr>
          <p:cNvSpPr txBox="1"/>
          <p:nvPr/>
        </p:nvSpPr>
        <p:spPr>
          <a:xfrm>
            <a:off x="704088" y="2387600"/>
            <a:ext cx="3799763" cy="3767328"/>
          </a:xfrm>
          <a:prstGeom prst="rect">
            <a:avLst/>
          </a:prstGeom>
        </p:spPr>
        <p:txBody>
          <a:bodyPr vert="horz" lIns="91440" tIns="45720" rIns="91440" bIns="45720" rtlCol="0">
            <a:normAutofit/>
          </a:bodyPr>
          <a:lstStyle/>
          <a:p>
            <a:pPr>
              <a:lnSpc>
                <a:spcPct val="110000"/>
              </a:lnSpc>
              <a:spcAft>
                <a:spcPts val="600"/>
              </a:spcAft>
            </a:pPr>
            <a:r>
              <a:rPr lang="zh-CN" altLang="en-US" dirty="0"/>
              <a:t>不同阵元数条件下的曲线变化规律十分一致：随着</a:t>
            </a:r>
            <a:r>
              <a:rPr lang="en-US" altLang="zh-CN" dirty="0"/>
              <a:t> SNR </a:t>
            </a:r>
            <a:r>
              <a:rPr lang="zh-CN" altLang="en-US" dirty="0"/>
              <a:t>增大，</a:t>
            </a:r>
            <a:r>
              <a:rPr lang="en-US" altLang="zh-CN" dirty="0"/>
              <a:t>RMSE </a:t>
            </a:r>
            <a:r>
              <a:rPr lang="zh-CN" altLang="en-US" dirty="0"/>
              <a:t>持续下降，并在中高信噪比区域逐步趋于稳定。这表明所设计方法对阵列规模变化具有较好的适应能力。</a:t>
            </a:r>
            <a:endParaRPr lang="en-US" altLang="zh-CN" dirty="0"/>
          </a:p>
          <a:p>
            <a:pPr indent="-228600">
              <a:lnSpc>
                <a:spcPct val="110000"/>
              </a:lnSpc>
              <a:spcAft>
                <a:spcPts val="600"/>
              </a:spcAft>
              <a:buFont typeface="Arial" panose="020B0604020202020204" pitchFamily="34" charset="0"/>
              <a:buChar char="•"/>
            </a:pPr>
            <a:endParaRPr lang="en-US" altLang="zh-CN" dirty="0"/>
          </a:p>
          <a:p>
            <a:pPr>
              <a:lnSpc>
                <a:spcPct val="110000"/>
              </a:lnSpc>
              <a:spcAft>
                <a:spcPts val="600"/>
              </a:spcAft>
            </a:pPr>
            <a:r>
              <a:rPr lang="zh-CN" altLang="en-US" dirty="0"/>
              <a:t>这说明基于</a:t>
            </a:r>
            <a:r>
              <a:rPr lang="en-US" altLang="zh-CN" dirty="0"/>
              <a:t> cropped VCM </a:t>
            </a:r>
            <a:r>
              <a:rPr lang="zh-CN" altLang="en-US" dirty="0"/>
              <a:t>的统一输入方案是可行且灵活的。</a:t>
            </a:r>
            <a:endParaRPr kumimoji="1" lang="en-US" altLang="zh-CN" dirty="0"/>
          </a:p>
        </p:txBody>
      </p:sp>
      <p:pic>
        <p:nvPicPr>
          <p:cNvPr id="3" name="图片 2">
            <a:extLst>
              <a:ext uri="{FF2B5EF4-FFF2-40B4-BE49-F238E27FC236}">
                <a16:creationId xmlns:a16="http://schemas.microsoft.com/office/drawing/2014/main" id="{4CFD5D44-0F63-7550-F5BE-948A9926A46E}"/>
              </a:ext>
            </a:extLst>
          </p:cNvPr>
          <p:cNvPicPr>
            <a:picLocks noChangeAspect="1"/>
          </p:cNvPicPr>
          <p:nvPr/>
        </p:nvPicPr>
        <p:blipFill>
          <a:blip r:embed="rId2"/>
          <a:stretch>
            <a:fillRect/>
          </a:stretch>
        </p:blipFill>
        <p:spPr>
          <a:xfrm>
            <a:off x="4503851" y="1425369"/>
            <a:ext cx="6326882" cy="4518231"/>
          </a:xfrm>
          <a:prstGeom prst="rect">
            <a:avLst/>
          </a:prstGeom>
        </p:spPr>
      </p:pic>
    </p:spTree>
    <p:extLst>
      <p:ext uri="{BB962C8B-B14F-4D97-AF65-F5344CB8AC3E}">
        <p14:creationId xmlns:p14="http://schemas.microsoft.com/office/powerpoint/2010/main" val="4019588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BBB24D-18B1-0A3D-5DA2-07822856879F}"/>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95E401B-A9E7-C2DE-7138-657E4F4A4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文本框 6">
            <a:extLst>
              <a:ext uri="{FF2B5EF4-FFF2-40B4-BE49-F238E27FC236}">
                <a16:creationId xmlns:a16="http://schemas.microsoft.com/office/drawing/2014/main" id="{2DB430B8-E8EC-B7A4-86DD-6B029CF6E532}"/>
              </a:ext>
            </a:extLst>
          </p:cNvPr>
          <p:cNvSpPr txBox="1"/>
          <p:nvPr/>
        </p:nvSpPr>
        <p:spPr>
          <a:xfrm>
            <a:off x="704088" y="914400"/>
            <a:ext cx="3799763" cy="1473200"/>
          </a:xfrm>
          <a:prstGeom prst="rect">
            <a:avLst/>
          </a:prstGeom>
        </p:spPr>
        <p:txBody>
          <a:bodyPr vert="horz" lIns="91440" tIns="45720" rIns="91440" bIns="45720" rtlCol="0" anchor="t">
            <a:normAutofit/>
          </a:bodyPr>
          <a:lstStyle/>
          <a:p>
            <a:pPr>
              <a:spcBef>
                <a:spcPct val="0"/>
              </a:spcBef>
              <a:spcAft>
                <a:spcPts val="600"/>
              </a:spcAft>
            </a:pPr>
            <a:r>
              <a:rPr kumimoji="1" lang="zh-CN" altLang="en-US" sz="4000" b="1" cap="all" spc="30" dirty="0">
                <a:latin typeface="+mj-lt"/>
                <a:ea typeface="+mj-ea"/>
                <a:cs typeface="+mj-cs"/>
              </a:rPr>
              <a:t>仿真结果分析</a:t>
            </a:r>
            <a:endParaRPr lang="en-US" altLang="zh-CN" sz="4000" b="1" cap="all" spc="30" dirty="0">
              <a:latin typeface="+mj-lt"/>
              <a:ea typeface="+mj-ea"/>
              <a:cs typeface="+mj-cs"/>
            </a:endParaRPr>
          </a:p>
        </p:txBody>
      </p:sp>
      <p:cxnSp>
        <p:nvCxnSpPr>
          <p:cNvPr id="28" name="Straight Connector 27">
            <a:extLst>
              <a:ext uri="{FF2B5EF4-FFF2-40B4-BE49-F238E27FC236}">
                <a16:creationId xmlns:a16="http://schemas.microsoft.com/office/drawing/2014/main" id="{19A8799C-D904-FAC6-66BE-E3FDBF756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9E5C3FEB-399E-49B9-D9E5-FE41021F0B35}"/>
              </a:ext>
            </a:extLst>
          </p:cNvPr>
          <p:cNvSpPr txBox="1"/>
          <p:nvPr/>
        </p:nvSpPr>
        <p:spPr>
          <a:xfrm>
            <a:off x="704088" y="2387600"/>
            <a:ext cx="3799763" cy="3767328"/>
          </a:xfrm>
          <a:prstGeom prst="rect">
            <a:avLst/>
          </a:prstGeom>
        </p:spPr>
        <p:txBody>
          <a:bodyPr vert="horz" lIns="91440" tIns="45720" rIns="91440" bIns="45720" rtlCol="0">
            <a:normAutofit/>
          </a:bodyPr>
          <a:lstStyle/>
          <a:p>
            <a:r>
              <a:rPr lang="zh-CN" altLang="zh-CN" dirty="0"/>
              <a:t>随着</a:t>
            </a:r>
            <a:r>
              <a:rPr lang="en-US" altLang="zh-CN" dirty="0"/>
              <a:t> SNR </a:t>
            </a:r>
            <a:r>
              <a:rPr lang="zh-CN" altLang="zh-CN" dirty="0"/>
              <a:t>提高，各组曲线均呈明显下降趋势</a:t>
            </a:r>
            <a:r>
              <a:rPr lang="zh-CN" altLang="en-US" dirty="0"/>
              <a:t>。</a:t>
            </a:r>
            <a:endParaRPr lang="en-US" altLang="zh-CN" dirty="0"/>
          </a:p>
          <a:p>
            <a:endParaRPr lang="en-US" altLang="zh-CN" dirty="0"/>
          </a:p>
          <a:p>
            <a:endParaRPr lang="en-US" altLang="zh-CN" dirty="0"/>
          </a:p>
          <a:p>
            <a:r>
              <a:rPr lang="zh-CN" altLang="zh-CN" dirty="0"/>
              <a:t>这说明无论输入尺寸和快拍数组合如何变化，所设计模型都能够在更高信噪比条件下获得更好的方向估计精度。</a:t>
            </a:r>
          </a:p>
        </p:txBody>
      </p:sp>
      <p:pic>
        <p:nvPicPr>
          <p:cNvPr id="2" name="图片 1">
            <a:extLst>
              <a:ext uri="{FF2B5EF4-FFF2-40B4-BE49-F238E27FC236}">
                <a16:creationId xmlns:a16="http://schemas.microsoft.com/office/drawing/2014/main" id="{136D260D-0E6C-FFE5-DE8F-32CDD98DECC6}"/>
              </a:ext>
            </a:extLst>
          </p:cNvPr>
          <p:cNvPicPr>
            <a:picLocks noChangeAspect="1"/>
          </p:cNvPicPr>
          <p:nvPr/>
        </p:nvPicPr>
        <p:blipFill>
          <a:blip r:embed="rId2"/>
          <a:stretch>
            <a:fillRect/>
          </a:stretch>
        </p:blipFill>
        <p:spPr>
          <a:xfrm>
            <a:off x="4673682" y="916942"/>
            <a:ext cx="6028938" cy="5024115"/>
          </a:xfrm>
          <a:prstGeom prst="rect">
            <a:avLst/>
          </a:prstGeom>
        </p:spPr>
      </p:pic>
    </p:spTree>
    <p:extLst>
      <p:ext uri="{BB962C8B-B14F-4D97-AF65-F5344CB8AC3E}">
        <p14:creationId xmlns:p14="http://schemas.microsoft.com/office/powerpoint/2010/main" val="1315398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5F411B-45C4-DA2E-46F8-7045FAE990F7}"/>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45D4961-D338-C309-68A3-E762938DB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文本框 6">
            <a:extLst>
              <a:ext uri="{FF2B5EF4-FFF2-40B4-BE49-F238E27FC236}">
                <a16:creationId xmlns:a16="http://schemas.microsoft.com/office/drawing/2014/main" id="{780B3A24-73F6-E7C0-37E9-71D239205AD7}"/>
              </a:ext>
            </a:extLst>
          </p:cNvPr>
          <p:cNvSpPr txBox="1"/>
          <p:nvPr/>
        </p:nvSpPr>
        <p:spPr>
          <a:xfrm>
            <a:off x="704088" y="914400"/>
            <a:ext cx="3799763" cy="1473200"/>
          </a:xfrm>
          <a:prstGeom prst="rect">
            <a:avLst/>
          </a:prstGeom>
        </p:spPr>
        <p:txBody>
          <a:bodyPr vert="horz" lIns="91440" tIns="45720" rIns="91440" bIns="45720" rtlCol="0" anchor="t">
            <a:normAutofit/>
          </a:bodyPr>
          <a:lstStyle/>
          <a:p>
            <a:pPr>
              <a:spcBef>
                <a:spcPct val="0"/>
              </a:spcBef>
              <a:spcAft>
                <a:spcPts val="600"/>
              </a:spcAft>
            </a:pPr>
            <a:r>
              <a:rPr kumimoji="1" lang="zh-CN" altLang="en-US" sz="4000" b="1" cap="all" spc="30" dirty="0">
                <a:latin typeface="+mj-lt"/>
                <a:ea typeface="+mj-ea"/>
                <a:cs typeface="+mj-cs"/>
              </a:rPr>
              <a:t>仿真结果分析</a:t>
            </a:r>
            <a:endParaRPr lang="en-US" altLang="zh-CN" sz="4000" b="1" cap="all" spc="30" dirty="0">
              <a:latin typeface="+mj-lt"/>
              <a:ea typeface="+mj-ea"/>
              <a:cs typeface="+mj-cs"/>
            </a:endParaRPr>
          </a:p>
        </p:txBody>
      </p:sp>
      <p:cxnSp>
        <p:nvCxnSpPr>
          <p:cNvPr id="28" name="Straight Connector 27">
            <a:extLst>
              <a:ext uri="{FF2B5EF4-FFF2-40B4-BE49-F238E27FC236}">
                <a16:creationId xmlns:a16="http://schemas.microsoft.com/office/drawing/2014/main" id="{F0D630B2-16F0-3CF1-1955-6194CC3017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8A80A1C7-448F-958D-F8A8-DE7A55C84506}"/>
              </a:ext>
            </a:extLst>
          </p:cNvPr>
          <p:cNvSpPr txBox="1"/>
          <p:nvPr/>
        </p:nvSpPr>
        <p:spPr>
          <a:xfrm>
            <a:off x="704088" y="2387600"/>
            <a:ext cx="3799763" cy="3767328"/>
          </a:xfrm>
          <a:prstGeom prst="rect">
            <a:avLst/>
          </a:prstGeom>
        </p:spPr>
        <p:txBody>
          <a:bodyPr vert="horz" lIns="91440" tIns="45720" rIns="91440" bIns="45720" rtlCol="0">
            <a:normAutofit/>
          </a:bodyPr>
          <a:lstStyle/>
          <a:p>
            <a:r>
              <a:rPr lang="en-US" altLang="zh-CN" dirty="0"/>
              <a:t>SNR </a:t>
            </a:r>
            <a:r>
              <a:rPr lang="zh-CN" altLang="zh-CN" dirty="0"/>
              <a:t>越高，</a:t>
            </a:r>
            <a:r>
              <a:rPr lang="en-US" altLang="zh-CN" dirty="0"/>
              <a:t>RMSE </a:t>
            </a:r>
            <a:r>
              <a:rPr lang="zh-CN" altLang="zh-CN" dirty="0"/>
              <a:t>越低；而不同距离之间的曲线差别整体较小。</a:t>
            </a:r>
            <a:endParaRPr lang="en-US" altLang="zh-CN" dirty="0"/>
          </a:p>
          <a:p>
            <a:endParaRPr lang="en-US" altLang="zh-CN" dirty="0"/>
          </a:p>
          <a:p>
            <a:endParaRPr lang="en-US" altLang="zh-CN" dirty="0"/>
          </a:p>
          <a:p>
            <a:r>
              <a:rPr lang="zh-CN" altLang="zh-CN" dirty="0"/>
              <a:t>在不同距离下，</a:t>
            </a:r>
            <a:r>
              <a:rPr lang="en-US" altLang="zh-CN" dirty="0"/>
              <a:t>CVNN </a:t>
            </a:r>
            <a:r>
              <a:rPr lang="zh-CN" altLang="zh-CN" dirty="0"/>
              <a:t>的预测性能几乎没有明显差异，这表明所提出的参数解耦方法是有效的。</a:t>
            </a:r>
          </a:p>
        </p:txBody>
      </p:sp>
      <p:pic>
        <p:nvPicPr>
          <p:cNvPr id="3" name="图片 2">
            <a:extLst>
              <a:ext uri="{FF2B5EF4-FFF2-40B4-BE49-F238E27FC236}">
                <a16:creationId xmlns:a16="http://schemas.microsoft.com/office/drawing/2014/main" id="{022A9E88-ABE4-6BFA-38AF-57F97FA9AD58}"/>
              </a:ext>
            </a:extLst>
          </p:cNvPr>
          <p:cNvPicPr>
            <a:picLocks noChangeAspect="1"/>
          </p:cNvPicPr>
          <p:nvPr/>
        </p:nvPicPr>
        <p:blipFill>
          <a:blip r:embed="rId2"/>
          <a:stretch>
            <a:fillRect/>
          </a:stretch>
        </p:blipFill>
        <p:spPr>
          <a:xfrm>
            <a:off x="4866469" y="1098441"/>
            <a:ext cx="6385300" cy="4788975"/>
          </a:xfrm>
          <a:prstGeom prst="rect">
            <a:avLst/>
          </a:prstGeom>
        </p:spPr>
      </p:pic>
    </p:spTree>
    <p:extLst>
      <p:ext uri="{BB962C8B-B14F-4D97-AF65-F5344CB8AC3E}">
        <p14:creationId xmlns:p14="http://schemas.microsoft.com/office/powerpoint/2010/main" val="2011547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C19EF34C-5622-413F-9C9F-AC937E306E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549954-3C0C-48B7-9BE6-9B32C39D04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灯片编号占位符 8">
            <a:extLst>
              <a:ext uri="{FF2B5EF4-FFF2-40B4-BE49-F238E27FC236}">
                <a16:creationId xmlns:a16="http://schemas.microsoft.com/office/drawing/2014/main" id="{6BF6D6EF-A0B6-0AA9-C123-B349043C0B65}"/>
              </a:ext>
            </a:extLst>
          </p:cNvPr>
          <p:cNvSpPr>
            <a:spLocks noGrp="1"/>
          </p:cNvSpPr>
          <p:nvPr>
            <p:ph type="sldNum" sz="quarter" idx="12"/>
          </p:nvPr>
        </p:nvSpPr>
        <p:spPr/>
        <p:txBody>
          <a:bodyPr/>
          <a:lstStyle/>
          <a:p>
            <a:fld id="{87E7843D-FF13-4365-9478-9625B70A2705}" type="slidenum">
              <a:rPr lang="en-US" smtClean="0"/>
              <a:t>15</a:t>
            </a:fld>
            <a:endParaRPr lang="en-US"/>
          </a:p>
        </p:txBody>
      </p:sp>
      <p:sp>
        <p:nvSpPr>
          <p:cNvPr id="4" name="内容占位符 3">
            <a:extLst>
              <a:ext uri="{FF2B5EF4-FFF2-40B4-BE49-F238E27FC236}">
                <a16:creationId xmlns:a16="http://schemas.microsoft.com/office/drawing/2014/main" id="{1EBDC535-64C1-5040-E3D2-B1C20C0707DE}"/>
              </a:ext>
            </a:extLst>
          </p:cNvPr>
          <p:cNvSpPr>
            <a:spLocks noGrp="1"/>
          </p:cNvSpPr>
          <p:nvPr>
            <p:ph idx="1"/>
          </p:nvPr>
        </p:nvSpPr>
        <p:spPr>
          <a:xfrm>
            <a:off x="563924" y="1354940"/>
            <a:ext cx="10691265" cy="3739896"/>
          </a:xfrm>
        </p:spPr>
        <p:txBody>
          <a:bodyPr/>
          <a:lstStyle/>
          <a:p>
            <a:pPr marL="0" indent="0">
              <a:buNone/>
            </a:pPr>
            <a:r>
              <a:rPr lang="zh-CN" altLang="zh-CN" sz="4000" b="1" dirty="0"/>
              <a:t>本项目仿真研究的意义</a:t>
            </a:r>
            <a:r>
              <a:rPr lang="zh-CN" altLang="zh-CN" sz="4000" dirty="0"/>
              <a:t>：</a:t>
            </a:r>
          </a:p>
          <a:p>
            <a:pPr lvl="0"/>
            <a:r>
              <a:rPr lang="zh-CN" altLang="zh-CN" dirty="0"/>
              <a:t>面向近场真实传播建立达角估计流程，提升短距离</a:t>
            </a:r>
            <a:r>
              <a:rPr lang="en-US" altLang="zh-CN" dirty="0"/>
              <a:t>MIMO/</a:t>
            </a:r>
            <a:r>
              <a:rPr lang="zh-CN" altLang="zh-CN" dirty="0"/>
              <a:t>毫米波等场景下定位与波束赋形的基础能力；</a:t>
            </a:r>
          </a:p>
          <a:p>
            <a:pPr lvl="0"/>
            <a:r>
              <a:rPr lang="zh-CN" altLang="zh-CN" dirty="0"/>
              <a:t>通过特征工程（</a:t>
            </a:r>
            <a:r>
              <a:rPr lang="en-US" altLang="zh-CN" dirty="0"/>
              <a:t>VCM</a:t>
            </a:r>
            <a:r>
              <a:rPr lang="zh-CN" altLang="zh-CN" dirty="0"/>
              <a:t>重构）</a:t>
            </a:r>
            <a:r>
              <a:rPr lang="en-US" altLang="zh-CN" dirty="0"/>
              <a:t>+</a:t>
            </a:r>
            <a:r>
              <a:rPr lang="zh-CN" altLang="zh-CN" dirty="0"/>
              <a:t>复值深度学习（</a:t>
            </a:r>
            <a:r>
              <a:rPr lang="en-US" altLang="zh-CN" dirty="0"/>
              <a:t>CVDL</a:t>
            </a:r>
            <a:r>
              <a:rPr lang="zh-CN" altLang="zh-CN" dirty="0"/>
              <a:t>）的结合，解决“距离</a:t>
            </a:r>
            <a:r>
              <a:rPr lang="en-US" altLang="zh-CN" dirty="0"/>
              <a:t>-</a:t>
            </a:r>
            <a:r>
              <a:rPr lang="zh-CN" altLang="zh-CN" dirty="0"/>
              <a:t>角度耦合导致学习困难”的核心矛盾，实现对复杂近场特征的可学习表示；</a:t>
            </a:r>
          </a:p>
          <a:p>
            <a:r>
              <a:rPr lang="zh-CN" altLang="zh-CN" dirty="0"/>
              <a:t>利用复值网络直接处理幅相信息，避免把复数拆成实部</a:t>
            </a:r>
            <a:r>
              <a:rPr lang="en-US" altLang="zh-CN" dirty="0"/>
              <a:t>/</a:t>
            </a:r>
            <a:r>
              <a:rPr lang="zh-CN" altLang="zh-CN" dirty="0"/>
              <a:t>虚部带来的相关性破坏与相位信息损失，从而提高精度与鲁棒性。</a:t>
            </a:r>
            <a:endParaRPr lang="zh-CN" altLang="en-US" dirty="0"/>
          </a:p>
        </p:txBody>
      </p:sp>
    </p:spTree>
    <p:extLst>
      <p:ext uri="{BB962C8B-B14F-4D97-AF65-F5344CB8AC3E}">
        <p14:creationId xmlns:p14="http://schemas.microsoft.com/office/powerpoint/2010/main" val="519446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295D37-DB68-E6E3-F57A-6DA2200A1F0A}"/>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彩色液体艺术">
            <a:extLst>
              <a:ext uri="{FF2B5EF4-FFF2-40B4-BE49-F238E27FC236}">
                <a16:creationId xmlns:a16="http://schemas.microsoft.com/office/drawing/2014/main" id="{6CB8FC47-3080-7E7D-578D-547EB67F65ED}"/>
              </a:ext>
            </a:extLst>
          </p:cNvPr>
          <p:cNvPicPr>
            <a:picLocks noChangeAspect="1"/>
          </p:cNvPicPr>
          <p:nvPr/>
        </p:nvPicPr>
        <p:blipFill>
          <a:blip r:embed="rId2"/>
          <a:srcRect t="14557" r="9091" b="12391"/>
          <a:stretch>
            <a:fillRect/>
          </a:stretch>
        </p:blipFill>
        <p:spPr>
          <a:xfrm>
            <a:off x="20" y="10"/>
            <a:ext cx="12191980" cy="6857990"/>
          </a:xfrm>
          <a:prstGeom prst="rect">
            <a:avLst/>
          </a:prstGeom>
        </p:spPr>
      </p:pic>
      <p:sp>
        <p:nvSpPr>
          <p:cNvPr id="29" name="Rectangle 28">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标题 1">
            <a:extLst>
              <a:ext uri="{FF2B5EF4-FFF2-40B4-BE49-F238E27FC236}">
                <a16:creationId xmlns:a16="http://schemas.microsoft.com/office/drawing/2014/main" id="{D29926A8-44C9-F3F3-D3C6-EC38DC315838}"/>
              </a:ext>
            </a:extLst>
          </p:cNvPr>
          <p:cNvSpPr>
            <a:spLocks noGrp="1"/>
          </p:cNvSpPr>
          <p:nvPr>
            <p:ph type="ctrTitle"/>
          </p:nvPr>
        </p:nvSpPr>
        <p:spPr>
          <a:xfrm>
            <a:off x="313786" y="908651"/>
            <a:ext cx="5230366" cy="4005454"/>
          </a:xfrm>
        </p:spPr>
        <p:txBody>
          <a:bodyPr anchor="t">
            <a:normAutofit/>
          </a:bodyPr>
          <a:lstStyle/>
          <a:p>
            <a:r>
              <a:rPr lang="zh-CN" altLang="en-US" sz="6800" b="1" dirty="0"/>
              <a:t>谢谢老师</a:t>
            </a:r>
            <a:br>
              <a:rPr lang="zh-CN" altLang="zh-CN" sz="6800" dirty="0"/>
            </a:br>
            <a:endParaRPr kumimoji="1" lang="zh-CN" altLang="en-US" sz="6800" dirty="0"/>
          </a:p>
        </p:txBody>
      </p:sp>
      <p:sp>
        <p:nvSpPr>
          <p:cNvPr id="6" name="副标题 5">
            <a:extLst>
              <a:ext uri="{FF2B5EF4-FFF2-40B4-BE49-F238E27FC236}">
                <a16:creationId xmlns:a16="http://schemas.microsoft.com/office/drawing/2014/main" id="{D69AD387-2C51-A2FC-E10F-8F773275A1A1}"/>
              </a:ext>
            </a:extLst>
          </p:cNvPr>
          <p:cNvSpPr>
            <a:spLocks noGrp="1"/>
          </p:cNvSpPr>
          <p:nvPr>
            <p:ph type="subTitle" idx="1"/>
          </p:nvPr>
        </p:nvSpPr>
        <p:spPr>
          <a:xfrm>
            <a:off x="313787" y="5050632"/>
            <a:ext cx="3793200" cy="1129888"/>
          </a:xfrm>
        </p:spPr>
        <p:txBody>
          <a:bodyPr anchor="b">
            <a:noAutofit/>
          </a:bodyPr>
          <a:lstStyle/>
          <a:p>
            <a:r>
              <a:rPr lang="en-US" altLang="zh-CN" dirty="0"/>
              <a:t>2026</a:t>
            </a:r>
            <a:r>
              <a:rPr lang="zh-CN" altLang="en-US" dirty="0"/>
              <a:t>年</a:t>
            </a:r>
            <a:r>
              <a:rPr lang="en-US" altLang="zh-CN" dirty="0"/>
              <a:t>1</a:t>
            </a:r>
            <a:r>
              <a:rPr lang="zh-CN" altLang="en-US" dirty="0"/>
              <a:t>月</a:t>
            </a:r>
            <a:r>
              <a:rPr lang="en-US" altLang="zh-CN" dirty="0"/>
              <a:t>12</a:t>
            </a:r>
            <a:r>
              <a:rPr lang="zh-CN" altLang="en-US" dirty="0"/>
              <a:t>日</a:t>
            </a:r>
            <a:endParaRPr lang="en-US" altLang="zh-CN" dirty="0"/>
          </a:p>
          <a:p>
            <a:r>
              <a:rPr lang="zh-CN" altLang="en-US" dirty="0"/>
              <a:t>杜承泰</a:t>
            </a:r>
            <a:endParaRPr lang="en-US" altLang="zh-CN" dirty="0"/>
          </a:p>
          <a:p>
            <a:r>
              <a:rPr lang="zh-CN" altLang="en-US" dirty="0"/>
              <a:t>指导老师：邓科</a:t>
            </a:r>
            <a:endParaRPr lang="en-US" altLang="zh-CN" dirty="0"/>
          </a:p>
          <a:p>
            <a:r>
              <a:rPr lang="zh-CN" altLang="en-US" dirty="0"/>
              <a:t>西安交通大学</a:t>
            </a:r>
          </a:p>
        </p:txBody>
      </p:sp>
      <p:cxnSp>
        <p:nvCxnSpPr>
          <p:cNvPr id="31" name="Straight Connector 30">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088E47BA-6022-9DD8-91E0-86702260A359}"/>
              </a:ext>
            </a:extLst>
          </p:cNvPr>
          <p:cNvSpPr>
            <a:spLocks noGrp="1"/>
          </p:cNvSpPr>
          <p:nvPr>
            <p:ph type="sldNum" sz="quarter" idx="12"/>
          </p:nvPr>
        </p:nvSpPr>
        <p:spPr/>
        <p:txBody>
          <a:bodyPr/>
          <a:lstStyle/>
          <a:p>
            <a:fld id="{87E7843D-FF13-4365-9478-9625B70A2705}" type="slidenum">
              <a:rPr lang="en-US" smtClean="0"/>
              <a:t>16</a:t>
            </a:fld>
            <a:endParaRPr lang="en-US"/>
          </a:p>
        </p:txBody>
      </p:sp>
    </p:spTree>
    <p:extLst>
      <p:ext uri="{BB962C8B-B14F-4D97-AF65-F5344CB8AC3E}">
        <p14:creationId xmlns:p14="http://schemas.microsoft.com/office/powerpoint/2010/main" val="215579094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7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7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700"/>
                                        <p:tgtEl>
                                          <p:spTgt spid="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1500"/>
                                  </p:stCondLst>
                                  <p:iterate>
                                    <p:tmPct val="10000"/>
                                  </p:iterate>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7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DengXian"/>
        <a:ea typeface=""/>
        <a:cs typeface=""/>
      </a:majorFont>
      <a:minorFont>
        <a:latin typeface="DengXia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4240</TotalTime>
  <Words>1513</Words>
  <Application>Microsoft Macintosh PowerPoint</Application>
  <PresentationFormat>宽屏</PresentationFormat>
  <Paragraphs>90</Paragraphs>
  <Slides>16</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等线</vt:lpstr>
      <vt:lpstr>等线</vt:lpstr>
      <vt:lpstr>DengXian Light</vt:lpstr>
      <vt:lpstr>Arial</vt:lpstr>
      <vt:lpstr>Calisto MT</vt:lpstr>
      <vt:lpstr>Cambria Math</vt:lpstr>
      <vt:lpstr>Times New Roman</vt:lpstr>
      <vt:lpstr>ChronicleVTI</vt:lpstr>
      <vt:lpstr>基于复值ResNet的近场源参数估计   </vt:lpstr>
      <vt:lpstr>研究背景 </vt:lpstr>
      <vt:lpstr>研究现状 </vt:lpstr>
      <vt:lpstr>设计流程</vt:lpstr>
      <vt:lpstr>系统模型与问题描述</vt:lpstr>
      <vt:lpstr>PowerPoint 演示文稿</vt:lpstr>
      <vt:lpstr>PowerPoint 演示文稿</vt:lpstr>
      <vt:lpstr>PowerPoint 演示文稿</vt:lpstr>
      <vt:lpstr>PowerPoint 演示文稿</vt:lpstr>
      <vt:lpstr>模型训练与预测</vt:lpstr>
      <vt:lpstr>PowerPoint 演示文稿</vt:lpstr>
      <vt:lpstr>PowerPoint 演示文稿</vt:lpstr>
      <vt:lpstr>PowerPoint 演示文稿</vt:lpstr>
      <vt:lpstr>PowerPoint 演示文稿</vt:lpstr>
      <vt:lpstr>PowerPoint 演示文稿</vt:lpstr>
      <vt:lpstr>谢谢老师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d74637</dc:creator>
  <cp:lastModifiedBy>d74637</cp:lastModifiedBy>
  <cp:revision>12</cp:revision>
  <dcterms:created xsi:type="dcterms:W3CDTF">2025-12-31T02:59:28Z</dcterms:created>
  <dcterms:modified xsi:type="dcterms:W3CDTF">2026-03-11T07:24:31Z</dcterms:modified>
</cp:coreProperties>
</file>